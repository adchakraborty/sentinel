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0"/>
            <a:ext cx="381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FFFFFF"/>
                </a:solidFill>
                <a:latin typeface="Segoe UI"/>
              </a:defRPr>
            </a:pPr>
            <a:r>
              <a:t>v1.0.0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200"/>
              </a:lnSpc>
              <a:defRPr sz="5400" b="1">
                <a:solidFill>
                  <a:srgbClr val="FFFFFF"/>
                </a:solidFill>
                <a:latin typeface="Segoe UI"/>
              </a:defRPr>
            </a:pPr>
            <a:r>
              <a:t>SENTINEL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06040"/>
            <a:ext cx="18288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700" b="0">
                <a:solidFill>
                  <a:srgbClr val="FFFFFF"/>
                </a:solidFill>
                <a:latin typeface="Segoe UI"/>
              </a:defRPr>
            </a:pPr>
            <a:r>
              <a:t>AI-Powered Security,</a:t>
            </a:r>
            <a:br/>
            <a:r>
              <a:t>Accessibility &amp; QA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18872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200"/>
              </a:lnSpc>
              <a:defRPr sz="3400" b="1">
                <a:solidFill>
                  <a:srgbClr val="FFFFFF"/>
                </a:solidFill>
                <a:latin typeface="Segoe UI"/>
              </a:defRPr>
            </a:pPr>
            <a:r>
              <a:t>Run it from your browser.</a:t>
            </a:r>
            <a:br/>
            <a:r>
              <a:t>Give it a URL.</a:t>
            </a:r>
            <a:br/>
            <a:r>
              <a:t>It does the rest.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2926080"/>
            <a:ext cx="6400800" cy="12700"/>
          </a:xfrm>
          <a:prstGeom prst="rect">
            <a:avLst/>
          </a:prstGeom>
          <a:solidFill>
            <a:srgbClr val="495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320040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300" b="0">
                <a:solidFill>
                  <a:srgbClr val="868E96"/>
                </a:solidFill>
                <a:latin typeface="Segoe UI"/>
              </a:defRPr>
            </a:pPr>
            <a:r>
              <a:t>SENTINEL reads your documentation, logs into your app (even through enterprise SSO), explores every page, then designs and runs security tests, functional checks, and edge-case exploration -- all in a real Chromium browser.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42976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600"/>
              </a:lnSpc>
              <a:defRPr sz="4000" b="1">
                <a:solidFill>
                  <a:srgbClr val="FFFFFF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4892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800" b="1">
                <a:solidFill>
                  <a:srgbClr val="868E96"/>
                </a:solidFill>
                <a:latin typeface="Segoe UI"/>
              </a:defRPr>
            </a:pPr>
            <a:r>
              <a:t>SETUP</a:t>
            </a:r>
            <a:br/>
            <a:r>
              <a:t>REQUIRED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42976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600"/>
              </a:lnSpc>
              <a:defRPr sz="4000" b="1">
                <a:solidFill>
                  <a:srgbClr val="FFFFFF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892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800" b="1">
                <a:solidFill>
                  <a:srgbClr val="868E96"/>
                </a:solidFill>
                <a:latin typeface="Segoe UI"/>
              </a:defRPr>
            </a:pPr>
            <a:r>
              <a:t>ATTACK</a:t>
            </a:r>
            <a:br/>
            <a:r>
              <a:t>CATEGORIES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42976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600"/>
              </a:lnSpc>
              <a:defRPr sz="40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4892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800" b="1">
                <a:solidFill>
                  <a:srgbClr val="868E96"/>
                </a:solidFill>
                <a:latin typeface="Segoe UI"/>
              </a:defRPr>
            </a:pPr>
            <a:r>
              <a:t>LOGIN</a:t>
            </a:r>
            <a:br/>
            <a:r>
              <a:t>METHODS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42976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600"/>
              </a:lnSpc>
              <a:defRPr sz="40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4892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800" b="1">
                <a:solidFill>
                  <a:srgbClr val="868E96"/>
                </a:solidFill>
                <a:latin typeface="Segoe UI"/>
              </a:defRPr>
            </a:pPr>
            <a:r>
              <a:t>LAYERS:</a:t>
            </a:r>
            <a:br/>
            <a:r>
              <a:t>BASELINE +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42976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600"/>
              </a:lnSpc>
              <a:defRPr sz="40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4892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800" b="1">
                <a:solidFill>
                  <a:srgbClr val="868E96"/>
                </a:solidFill>
                <a:latin typeface="Segoe UI"/>
              </a:defRPr>
            </a:pPr>
            <a:r>
              <a:t>REPORT</a:t>
            </a:r>
            <a:br/>
            <a:r>
              <a:t>FORMATS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5669280"/>
            <a:ext cx="6858000" cy="457200"/>
          </a:xfrm>
          <a:prstGeom prst="roundRect">
            <a:avLst>
              <a:gd name="adj" fmla="val 15000"/>
            </a:avLst>
          </a:prstGeom>
          <a:solidFill>
            <a:srgbClr val="34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0" y="571500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0">
                <a:solidFill>
                  <a:srgbClr val="40C057"/>
                </a:solidFill>
                <a:latin typeface="Consolas"/>
              </a:defRPr>
            </a:pPr>
            <a:r>
              <a:t>$ open localhost:3000 &gt; Enter URL &gt; Click "Launch Scan" &gt; Done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12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1">
                <a:solidFill>
                  <a:srgbClr val="868E96"/>
                </a:solidFill>
                <a:latin typeface="Segoe UI"/>
              </a:defRPr>
            </a:pPr>
            <a:r>
              <a:t>SENTINEL v1.0.0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defRPr sz="900" b="0">
                <a:solidFill>
                  <a:srgbClr val="868E96"/>
                </a:solidFill>
                <a:latin typeface="Segoe UI"/>
              </a:defRPr>
            </a:pPr>
            <a:r>
              <a:t>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300" b="1">
                <a:solidFill>
                  <a:srgbClr val="DC3545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00"/>
              </a:lnSpc>
              <a:defRPr sz="3400" b="1">
                <a:solidFill>
                  <a:srgbClr val="212529"/>
                </a:solidFill>
                <a:latin typeface="Segoe UI"/>
              </a:defRPr>
            </a:pPr>
            <a:r>
              <a:t>From One Prompt to a Full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500" b="0">
                <a:solidFill>
                  <a:srgbClr val="495057"/>
                </a:solidFill>
                <a:latin typeface="Segoe UI"/>
              </a:defRPr>
            </a:pPr>
            <a:r>
              <a:t>URL + docs + credentials. SENTINEL reads, logs in, explores, tests, and reports. Automatically.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21792"/>
            <a:ext cx="548640" cy="38100"/>
          </a:xfrm>
          <a:prstGeom prst="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2011680"/>
            <a:ext cx="219456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0160" y="2148840"/>
            <a:ext cx="502920" cy="502920"/>
          </a:xfrm>
          <a:prstGeom prst="ellipse">
            <a:avLst/>
          </a:prstGeom>
          <a:solidFill>
            <a:srgbClr val="228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21945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  <a:defRPr sz="18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7889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500" b="1">
                <a:solidFill>
                  <a:srgbClr val="212529"/>
                </a:solidFill>
                <a:latin typeface="Segoe UI"/>
              </a:defRPr>
            </a:pPr>
            <a:r>
              <a:t>You Provide</a:t>
            </a:r>
            <a:br/>
            <a:r>
              <a:t>the Basics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3832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100" b="0">
                <a:solidFill>
                  <a:srgbClr val="495057"/>
                </a:solidFill>
                <a:latin typeface="Segoe UI"/>
              </a:defRPr>
            </a:pPr>
            <a:r>
              <a:t>Target URL, product docs,</a:t>
            </a:r>
            <a:br/>
            <a:r>
              <a:t>login credentials, example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88920" y="2011680"/>
            <a:ext cx="219456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11880" y="214884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21945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  <a:defRPr sz="180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7889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500" b="1">
                <a:solidFill>
                  <a:srgbClr val="212529"/>
                </a:solidFill>
                <a:latin typeface="Segoe UI"/>
              </a:defRPr>
            </a:pPr>
            <a:r>
              <a:t>SENTINEL Reads</a:t>
            </a:r>
            <a:br/>
            <a:r>
              <a:t>&amp; Explores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3832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100" b="0">
                <a:solidFill>
                  <a:srgbClr val="495057"/>
                </a:solidFill>
                <a:latin typeface="Segoe UI"/>
              </a:defRPr>
            </a:pPr>
            <a:r>
              <a:t>Reads docs, logs in (even SSO),</a:t>
            </a:r>
            <a:br/>
            <a:r>
              <a:t>crawls every page and form.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2011680"/>
            <a:ext cx="219456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43600" y="2148840"/>
            <a:ext cx="502920" cy="502920"/>
          </a:xfrm>
          <a:prstGeom prst="ellipse">
            <a:avLst/>
          </a:prstGeom>
          <a:solidFill>
            <a:srgbClr val="FD7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21945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  <a:defRPr sz="180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27889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500" b="1">
                <a:solidFill>
                  <a:srgbClr val="212529"/>
                </a:solidFill>
                <a:latin typeface="Segoe UI"/>
              </a:defRPr>
            </a:pPr>
            <a:r>
              <a:t>Baseline + AI</a:t>
            </a:r>
            <a:br/>
            <a:r>
              <a:t>Design Tests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33832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100" b="0">
                <a:solidFill>
                  <a:srgbClr val="495057"/>
                </a:solidFill>
                <a:latin typeface="Segoe UI"/>
              </a:defRPr>
            </a:pPr>
            <a:r>
              <a:t>Deterministic attacks from recon</a:t>
            </a:r>
            <a:br/>
            <a:r>
              <a:t>+ LLM-designed bespoke attacks.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52360" y="2011680"/>
            <a:ext cx="219456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75320" y="2148840"/>
            <a:ext cx="502920" cy="502920"/>
          </a:xfrm>
          <a:prstGeom prst="ellipse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21945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  <a:defRPr sz="180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27889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500" b="1">
                <a:solidFill>
                  <a:srgbClr val="212529"/>
                </a:solidFill>
                <a:latin typeface="Segoe UI"/>
              </a:defRPr>
            </a:pPr>
            <a:r>
              <a:t>Tests Run in a</a:t>
            </a:r>
            <a:br/>
            <a:r>
              <a:t>Real Browser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33832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100" b="0">
                <a:solidFill>
                  <a:srgbClr val="495057"/>
                </a:solidFill>
                <a:latin typeface="Segoe UI"/>
              </a:defRPr>
            </a:pPr>
            <a:r>
              <a:t>Playwright clicks, fills forms,</a:t>
            </a:r>
            <a:br/>
            <a:r>
              <a:t>tries malicious inputs. Screenshots.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84080" y="2011680"/>
            <a:ext cx="219456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607040" y="2148840"/>
            <a:ext cx="502920" cy="502920"/>
          </a:xfrm>
          <a:prstGeom prst="ellipse">
            <a:avLst/>
          </a:prstGeom>
          <a:solidFill>
            <a:srgbClr val="40C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07040" y="21945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  <a:defRPr sz="1800" b="1">
                <a:solidFill>
                  <a:srgbClr val="FFFFFF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27889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500" b="1">
                <a:solidFill>
                  <a:srgbClr val="212529"/>
                </a:solidFill>
                <a:latin typeface="Segoe UI"/>
              </a:defRPr>
            </a:pPr>
            <a:r>
              <a:t>Report &amp;</a:t>
            </a:r>
            <a:br/>
            <a:r>
              <a:t>Remember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33832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100" b="0">
                <a:solidFill>
                  <a:srgbClr val="495057"/>
                </a:solidFill>
                <a:latin typeface="Segoe UI"/>
              </a:defRPr>
            </a:pPr>
            <a:r>
              <a:t>Prioritized findings with evidence.</a:t>
            </a:r>
            <a:br/>
            <a:r>
              <a:t>Knowledge persists for next scan.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292608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  <a:defRPr sz="1800" b="1">
                <a:solidFill>
                  <a:srgbClr val="868E96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83480" y="292608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  <a:defRPr sz="1800" b="1">
                <a:solidFill>
                  <a:srgbClr val="868E96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292608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  <a:defRPr sz="1800" b="1">
                <a:solidFill>
                  <a:srgbClr val="868E96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6920" y="292608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  <a:defRPr sz="1800" b="1">
                <a:solidFill>
                  <a:srgbClr val="868E96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846320"/>
            <a:ext cx="54864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49377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495057"/>
                </a:solidFill>
                <a:latin typeface="Segoe UI"/>
              </a:defRPr>
            </a:pPr>
            <a:r>
              <a:t>Traditional Scanners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2578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200" b="0">
                <a:solidFill>
                  <a:srgbClr val="495057"/>
                </a:solidFill>
                <a:latin typeface="Segoe UI"/>
              </a:defRPr>
            </a:pPr>
            <a:r>
              <a:t>Like a locksmith trying 10,000 keys on every door. Most don't fit. Slow, noisy, misses custom locks.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26480" y="4846320"/>
            <a:ext cx="5577840" cy="1371600"/>
          </a:xfrm>
          <a:prstGeom prst="roundRect">
            <a:avLst>
              <a:gd name="adj" fmla="val 4000"/>
            </a:avLst>
          </a:prstGeom>
          <a:solidFill>
            <a:srgbClr val="FCE4E7"/>
          </a:solidFill>
          <a:ln w="19050">
            <a:solidFill>
              <a:srgbClr val="DC3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4937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DC3545"/>
                </a:solidFill>
                <a:latin typeface="Segoe UI"/>
              </a:defRPr>
            </a:pPr>
            <a:r>
              <a:t>SENTINEL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2578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200" b="0">
                <a:solidFill>
                  <a:srgbClr val="343A40"/>
                </a:solidFill>
                <a:latin typeface="Segoe UI"/>
              </a:defRPr>
            </a:pPr>
            <a:r>
              <a:t>Hires a security team: one systematically checks every door (baseline), another reads the blueprints and picks specialized tools (AI). Faster, smarter, thorough.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12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1">
                <a:solidFill>
                  <a:srgbClr val="868E96"/>
                </a:solidFill>
                <a:latin typeface="Segoe UI"/>
              </a:defRPr>
            </a:pPr>
            <a:r>
              <a:t>SENTINEL v1.0.0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defRPr sz="900" b="0">
                <a:solidFill>
                  <a:srgbClr val="868E96"/>
                </a:solidFill>
                <a:latin typeface="Segoe UI"/>
              </a:defRPr>
            </a:pPr>
            <a:r>
              <a:t>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300" b="1">
                <a:solidFill>
                  <a:srgbClr val="DC3545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00"/>
              </a:lnSpc>
              <a:defRPr sz="3400" b="1">
                <a:solidFill>
                  <a:srgbClr val="212529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500" b="0">
                <a:solidFill>
                  <a:srgbClr val="495057"/>
                </a:solidFill>
                <a:latin typeface="Segoe UI"/>
              </a:defRPr>
            </a:pPr>
            <a:r>
              <a:t>Next.js web app powered by GPT-4o. The AI is the brain -- the server provides the hands.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21792"/>
            <a:ext cx="548640" cy="38100"/>
          </a:xfrm>
          <a:prstGeom prst="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737360"/>
            <a:ext cx="1920240" cy="54864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7393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AI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1168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FFFFFF"/>
                </a:solidFill>
                <a:latin typeface="Segoe UI"/>
              </a:defRPr>
            </a:pPr>
            <a:r>
              <a:t>The Brain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40" y="1792224"/>
            <a:ext cx="1289304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15768" y="1828800"/>
            <a:ext cx="1069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1">
                <a:solidFill>
                  <a:srgbClr val="7C3AED"/>
                </a:solidFill>
                <a:latin typeface="Segoe UI"/>
              </a:defRPr>
            </a:pPr>
            <a:r>
              <a:t>LLM (GPT-4o)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32504" y="1792224"/>
            <a:ext cx="1655064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42232" y="1828800"/>
            <a:ext cx="1435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1">
                <a:solidFill>
                  <a:srgbClr val="7C3AED"/>
                </a:solidFill>
                <a:latin typeface="Segoe UI"/>
              </a:defRPr>
            </a:pPr>
            <a:r>
              <a:t>Doc Understanding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24728" y="1792224"/>
            <a:ext cx="1362456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34456" y="1828800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1">
                <a:solidFill>
                  <a:srgbClr val="7C3AED"/>
                </a:solidFill>
                <a:latin typeface="Segoe UI"/>
              </a:defRPr>
            </a:pPr>
            <a:r>
              <a:t>Test Plan Gen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1792224"/>
            <a:ext cx="1435608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34072" y="1828800"/>
            <a:ext cx="1216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1">
                <a:solidFill>
                  <a:srgbClr val="7C3AED"/>
                </a:solidFill>
                <a:latin typeface="Segoe UI"/>
              </a:defRPr>
            </a:pPr>
            <a:r>
              <a:t>Payload Design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97112" y="1792224"/>
            <a:ext cx="1362456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1828800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1">
                <a:solidFill>
                  <a:srgbClr val="7C3AED"/>
                </a:solidFill>
                <a:latin typeface="Segoe UI"/>
              </a:defRPr>
            </a:pPr>
            <a:r>
              <a:t>Vuln Analysis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395728"/>
            <a:ext cx="1920240" cy="548640"/>
          </a:xfrm>
          <a:prstGeom prst="roundRect">
            <a:avLst>
              <a:gd name="adj" fmla="val 6000"/>
            </a:avLst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43230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1">
                <a:solidFill>
                  <a:srgbClr val="FFFFFF"/>
                </a:solidFill>
                <a:latin typeface="Segoe UI"/>
              </a:defRPr>
            </a:pPr>
            <a:r>
              <a:t>WEB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67004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FFFFFF"/>
                </a:solidFill>
                <a:latin typeface="Segoe UI"/>
              </a:defRPr>
            </a:pPr>
            <a:r>
              <a:t>The Interface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06040" y="2450592"/>
            <a:ext cx="1216152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DC3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15768" y="2487168"/>
            <a:ext cx="996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1">
                <a:solidFill>
                  <a:srgbClr val="DC3545"/>
                </a:solidFill>
                <a:latin typeface="Segoe UI"/>
              </a:defRPr>
            </a:pPr>
            <a:r>
              <a:t>Next.js App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59352" y="2450592"/>
            <a:ext cx="1289304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DC3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69080" y="2487168"/>
            <a:ext cx="1069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1">
                <a:solidFill>
                  <a:srgbClr val="DC3545"/>
                </a:solidFill>
                <a:latin typeface="Segoe UI"/>
              </a:defRPr>
            </a:pPr>
            <a:r>
              <a:t>SSE Scan API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85816" y="2450592"/>
            <a:ext cx="1728216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DC3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95544" y="2487168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1">
                <a:solidFill>
                  <a:srgbClr val="DC3545"/>
                </a:solidFill>
                <a:latin typeface="Segoe UI"/>
              </a:defRPr>
            </a:pPr>
            <a:r>
              <a:t>Real-Time Progress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51192" y="2450592"/>
            <a:ext cx="1581912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DC3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60920" y="2487168"/>
            <a:ext cx="1362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1">
                <a:solidFill>
                  <a:srgbClr val="DC3545"/>
                </a:solidFill>
                <a:latin typeface="Segoe UI"/>
              </a:defRPr>
            </a:pPr>
            <a:r>
              <a:t>Report Downloads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70264" y="2450592"/>
            <a:ext cx="1069848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DC3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79992" y="2487168"/>
            <a:ext cx="850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1">
                <a:solidFill>
                  <a:srgbClr val="DC3545"/>
                </a:solidFill>
                <a:latin typeface="Segoe UI"/>
              </a:defRPr>
            </a:pPr>
            <a:r>
              <a:t>MCP (IDE)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054096"/>
            <a:ext cx="1920240" cy="548640"/>
          </a:xfrm>
          <a:prstGeom prst="roundRect">
            <a:avLst>
              <a:gd name="adj" fmla="val 6000"/>
            </a:avLst>
          </a:prstGeom>
          <a:solidFill>
            <a:srgbClr val="228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09067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1">
                <a:solidFill>
                  <a:srgbClr val="FFFFFF"/>
                </a:solidFill>
                <a:latin typeface="Segoe UI"/>
              </a:defRPr>
            </a:pPr>
            <a:r>
              <a:t>BROWSER ENGINE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32841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FFFFFF"/>
                </a:solidFill>
                <a:latin typeface="Segoe UI"/>
              </a:defRPr>
            </a:pPr>
            <a:r>
              <a:t>The Hands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606040" y="3108960"/>
            <a:ext cx="1143000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228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15768" y="3145536"/>
            <a:ext cx="9235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1">
                <a:solidFill>
                  <a:srgbClr val="228BE6"/>
                </a:solidFill>
                <a:latin typeface="Segoe UI"/>
              </a:defRPr>
            </a:pPr>
            <a:r>
              <a:t>Playwright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86200" y="3108960"/>
            <a:ext cx="1435608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228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95928" y="3145536"/>
            <a:ext cx="1216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1">
                <a:solidFill>
                  <a:srgbClr val="228BE6"/>
                </a:solidFill>
                <a:latin typeface="Segoe UI"/>
              </a:defRPr>
            </a:pPr>
            <a:r>
              <a:t>Auth (5 types)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58968" y="3108960"/>
            <a:ext cx="1728216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228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68696" y="3145536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1">
                <a:solidFill>
                  <a:srgbClr val="228BE6"/>
                </a:solidFill>
                <a:latin typeface="Segoe UI"/>
              </a:defRPr>
            </a:pPr>
            <a:r>
              <a:t>Screenshot Capture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24344" y="3108960"/>
            <a:ext cx="1508760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228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34072" y="3145536"/>
            <a:ext cx="1289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1">
                <a:solidFill>
                  <a:srgbClr val="228BE6"/>
                </a:solidFill>
                <a:latin typeface="Segoe UI"/>
              </a:defRPr>
            </a:pPr>
            <a:r>
              <a:t>Form Inspection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3712464"/>
            <a:ext cx="1920240" cy="548640"/>
          </a:xfrm>
          <a:prstGeom prst="roundRect">
            <a:avLst>
              <a:gd name="adj" fmla="val 6000"/>
            </a:avLst>
          </a:prstGeom>
          <a:solidFill>
            <a:srgbClr val="FD7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374904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1">
                <a:solidFill>
                  <a:srgbClr val="FFFFFF"/>
                </a:solidFill>
                <a:latin typeface="Segoe UI"/>
              </a:defRPr>
            </a:pPr>
            <a:r>
              <a:t>DATA &amp; MEMORY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398678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FFFFFF"/>
                </a:solidFill>
                <a:latin typeface="Segoe UI"/>
              </a:defRPr>
            </a:pPr>
            <a:r>
              <a:t>The Memory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606040" y="3767328"/>
            <a:ext cx="1435608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D7E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15768" y="3803904"/>
            <a:ext cx="1216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1">
                <a:solidFill>
                  <a:srgbClr val="FD7E14"/>
                </a:solidFill>
                <a:latin typeface="Segoe UI"/>
              </a:defRPr>
            </a:pPr>
            <a:r>
              <a:t>Knowledge Base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178808" y="3767328"/>
            <a:ext cx="1728216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D7E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88536" y="3803904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1">
                <a:solidFill>
                  <a:srgbClr val="FD7E14"/>
                </a:solidFill>
                <a:latin typeface="Segoe UI"/>
              </a:defRPr>
            </a:pPr>
            <a:r>
              <a:t>Effective Payloads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044184" y="3767328"/>
            <a:ext cx="1289304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D7E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53912" y="3803904"/>
            <a:ext cx="1069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1">
                <a:solidFill>
                  <a:srgbClr val="FD7E14"/>
                </a:solidFill>
                <a:latin typeface="Segoe UI"/>
              </a:defRPr>
            </a:pPr>
            <a:r>
              <a:t>Scan History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470648" y="3767328"/>
            <a:ext cx="1289304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D7E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80376" y="3803904"/>
            <a:ext cx="1069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1">
                <a:solidFill>
                  <a:srgbClr val="FD7E14"/>
                </a:solidFill>
                <a:latin typeface="Segoe UI"/>
              </a:defRPr>
            </a:pPr>
            <a:r>
              <a:t>App Profiles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7200" y="4370832"/>
            <a:ext cx="1920240" cy="548640"/>
          </a:xfrm>
          <a:prstGeom prst="roundRect">
            <a:avLst>
              <a:gd name="adj" fmla="val 6000"/>
            </a:avLst>
          </a:prstGeom>
          <a:solidFill>
            <a:srgbClr val="40C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440740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1">
                <a:solidFill>
                  <a:srgbClr val="FFFFFF"/>
                </a:solidFill>
                <a:latin typeface="Segoe UI"/>
              </a:defRPr>
            </a:pPr>
            <a:r>
              <a:t>OUTPUT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464515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FFFFFF"/>
                </a:solidFill>
                <a:latin typeface="Segoe UI"/>
              </a:defRPr>
            </a:pPr>
            <a:r>
              <a:t>The Reports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606040" y="4425696"/>
            <a:ext cx="1216152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40C0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715768" y="4462272"/>
            <a:ext cx="996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1">
                <a:solidFill>
                  <a:srgbClr val="40C057"/>
                </a:solidFill>
                <a:latin typeface="Segoe UI"/>
              </a:defRPr>
            </a:pPr>
            <a:r>
              <a:t>HTML Report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959352" y="4425696"/>
            <a:ext cx="996696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40C0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069080" y="4462272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1">
                <a:solidFill>
                  <a:srgbClr val="40C057"/>
                </a:solidFill>
                <a:latin typeface="Segoe UI"/>
              </a:defRPr>
            </a:pPr>
            <a:r>
              <a:t>Markdown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093208" y="4425696"/>
            <a:ext cx="1362456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40C0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202936" y="4462272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1">
                <a:solidFill>
                  <a:srgbClr val="40C057"/>
                </a:solidFill>
                <a:latin typeface="Segoe UI"/>
              </a:defRPr>
            </a:pPr>
            <a:r>
              <a:t>SARIF (CI/CD)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592824" y="4425696"/>
            <a:ext cx="1216152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40C0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702552" y="4462272"/>
            <a:ext cx="996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1">
                <a:solidFill>
                  <a:srgbClr val="40C057"/>
                </a:solidFill>
                <a:latin typeface="Segoe UI"/>
              </a:defRPr>
            </a:pPr>
            <a:r>
              <a:t>Screenshots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5212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600" b="1">
                <a:solidFill>
                  <a:srgbClr val="212529"/>
                </a:solidFill>
                <a:latin typeface="Segoe UI"/>
              </a:defRPr>
            </a:pPr>
            <a:r>
              <a:t>Tech Stack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31520" y="557784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C3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2960" y="5596128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1">
                <a:solidFill>
                  <a:srgbClr val="DC3545"/>
                </a:solidFill>
                <a:latin typeface="Segoe UI"/>
              </a:defRPr>
            </a:pPr>
            <a:r>
              <a:t>Next.js 15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874520" y="557784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965960" y="5596128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1">
                <a:solidFill>
                  <a:srgbClr val="7C3AED"/>
                </a:solidFill>
                <a:latin typeface="Segoe UI"/>
              </a:defRPr>
            </a:pPr>
            <a:r>
              <a:t>TypeScript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017520" y="5577840"/>
            <a:ext cx="1874519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FD7E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108960" y="5596128"/>
            <a:ext cx="16916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1">
                <a:solidFill>
                  <a:srgbClr val="FD7E14"/>
                </a:solidFill>
                <a:latin typeface="Segoe UI"/>
              </a:defRPr>
            </a:pPr>
            <a:r>
              <a:t>GitHub Models (GPT-4o)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983479" y="557784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28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074919" y="5596128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1">
                <a:solidFill>
                  <a:srgbClr val="228BE6"/>
                </a:solidFill>
                <a:latin typeface="Segoe UI"/>
              </a:defRPr>
            </a:pPr>
            <a:r>
              <a:t>Playwright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126479" y="557784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28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17919" y="559612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1">
                <a:solidFill>
                  <a:srgbClr val="228BE6"/>
                </a:solidFill>
                <a:latin typeface="Segoe UI"/>
              </a:defRPr>
            </a:pPr>
            <a:r>
              <a:t>Chromium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132319" y="5577840"/>
            <a:ext cx="11201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40C0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223759" y="5596128"/>
            <a:ext cx="9372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1">
                <a:solidFill>
                  <a:srgbClr val="40C057"/>
                </a:solidFill>
                <a:latin typeface="Segoe UI"/>
              </a:defRPr>
            </a:pPr>
            <a:r>
              <a:t>SARIF 2.1.0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343899" y="557784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FD7E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435339" y="559612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1">
                <a:solidFill>
                  <a:srgbClr val="FD7E14"/>
                </a:solidFill>
                <a:latin typeface="Segoe UI"/>
              </a:defRPr>
            </a:pPr>
            <a:r>
              <a:t>JSON Knowledge Store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0172699" y="5577840"/>
            <a:ext cx="8458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868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264139" y="5596128"/>
            <a:ext cx="6629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1">
                <a:solidFill>
                  <a:srgbClr val="868E96"/>
                </a:solidFill>
                <a:latin typeface="Segoe UI"/>
              </a:defRPr>
            </a:pPr>
            <a:r>
              <a:t>MCP SDK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12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1">
                <a:solidFill>
                  <a:srgbClr val="868E96"/>
                </a:solidFill>
                <a:latin typeface="Segoe UI"/>
              </a:defRPr>
            </a:pPr>
            <a:r>
              <a:t>SENTINEL v1.0.0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defRPr sz="900" b="0">
                <a:solidFill>
                  <a:srgbClr val="868E96"/>
                </a:solidFill>
                <a:latin typeface="Segoe UI"/>
              </a:defRPr>
            </a:pPr>
            <a:r>
              <a:t>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300" b="1">
                <a:solidFill>
                  <a:srgbClr val="DC3545"/>
                </a:solidFill>
                <a:latin typeface="Segoe UI"/>
              </a:defRPr>
            </a:pPr>
            <a:r>
              <a:t>02b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00"/>
              </a:lnSpc>
              <a:defRPr sz="3400" b="1">
                <a:solidFill>
                  <a:srgbClr val="212529"/>
                </a:solidFill>
                <a:latin typeface="Segoe UI"/>
              </a:defRPr>
            </a:pPr>
            <a:r>
              <a:t>Where AI Is Leveraged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500" b="0">
                <a:solidFill>
                  <a:srgbClr val="495057"/>
                </a:solidFill>
                <a:latin typeface="Segoe UI"/>
              </a:defRPr>
            </a:pPr>
            <a:r>
              <a:t>Two layers: Baseline attacks from recon ensure consistency. AI adds app-specific intelligence.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21792"/>
            <a:ext cx="548640" cy="38100"/>
          </a:xfrm>
          <a:prstGeom prst="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828800"/>
            <a:ext cx="3611880" cy="1417320"/>
          </a:xfrm>
          <a:prstGeom prst="roundRect">
            <a:avLst>
              <a:gd name="adj" fmla="val 4000"/>
            </a:avLst>
          </a:prstGeom>
          <a:solidFill>
            <a:srgbClr val="EBFBEE"/>
          </a:solidFill>
          <a:ln w="19050">
            <a:solidFill>
              <a:srgbClr val="0CA6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938528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56816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800" b="1">
                <a:solidFill>
                  <a:srgbClr val="FFFFFF"/>
                </a:solidFill>
                <a:latin typeface="Segoe UI"/>
              </a:defRPr>
            </a:pPr>
            <a:r>
              <a:t>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4028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212529"/>
                </a:solidFill>
                <a:latin typeface="Segoe UI"/>
              </a:defRPr>
            </a:pPr>
            <a:r>
              <a:t>Deterministic Attacks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42032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000" b="0">
                <a:solidFill>
                  <a:srgbClr val="495057"/>
                </a:solidFill>
                <a:latin typeface="Segoe UI"/>
              </a:defRPr>
            </a:pPr>
            <a:r>
              <a:t>SQLi &amp; XSS on every input, CORS probes, IDOR on APIs, SSRF, path traversal, auth bypass, CSRF, a11y, UX checks.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1828800"/>
            <a:ext cx="3611880" cy="1417320"/>
          </a:xfrm>
          <a:prstGeom prst="roundRect">
            <a:avLst>
              <a:gd name="adj" fmla="val 4000"/>
            </a:avLst>
          </a:prstGeom>
          <a:solidFill>
            <a:srgbClr val="F3F0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34840" y="1938528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1956816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800" b="1">
                <a:solidFill>
                  <a:srgbClr val="FFFFFF"/>
                </a:solidFill>
                <a:latin typeface="Segoe UI"/>
              </a:defRPr>
            </a:pPr>
            <a:r>
              <a:t>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24028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212529"/>
                </a:solidFill>
                <a:latin typeface="Segoe UI"/>
              </a:defRPr>
            </a:pPr>
            <a:r>
              <a:t>Reads &amp; Understands Docs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542032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000" b="0">
                <a:solidFill>
                  <a:srgbClr val="495057"/>
                </a:solidFill>
                <a:latin typeface="Segoe UI"/>
              </a:defRPr>
            </a:pPr>
            <a:r>
              <a:t>LLM reads product docs, extracts routes, features, business rules, tech stack, and user flows.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828800"/>
            <a:ext cx="3611880" cy="1417320"/>
          </a:xfrm>
          <a:prstGeom prst="roundRect">
            <a:avLst>
              <a:gd name="adj" fmla="val 4000"/>
            </a:avLst>
          </a:prstGeom>
          <a:solidFill>
            <a:srgbClr val="F3F0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0" y="1938528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956816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800" b="1">
                <a:solidFill>
                  <a:srgbClr val="FFFFFF"/>
                </a:solidFill>
                <a:latin typeface="Segoe UI"/>
              </a:defRPr>
            </a:pPr>
            <a:r>
              <a:t>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24028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212529"/>
                </a:solidFill>
                <a:latin typeface="Segoe UI"/>
              </a:defRPr>
            </a:pPr>
            <a:r>
              <a:t>App-Specific Attacks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542032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000" b="0">
                <a:solidFill>
                  <a:srgbClr val="495057"/>
                </a:solidFill>
                <a:latin typeface="Segoe UI"/>
              </a:defRPr>
            </a:pPr>
            <a:r>
              <a:t>Custom payloads for your tech stack, business logic tests, edge cases a deterministic engine can't anticipate.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383280"/>
            <a:ext cx="3611880" cy="1417320"/>
          </a:xfrm>
          <a:prstGeom prst="roundRect">
            <a:avLst>
              <a:gd name="adj" fmla="val 4000"/>
            </a:avLst>
          </a:prstGeom>
          <a:solidFill>
            <a:srgbClr val="F3F0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3493008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511296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800" b="1">
                <a:solidFill>
                  <a:srgbClr val="FFFFFF"/>
                </a:solidFill>
                <a:latin typeface="Segoe UI"/>
              </a:defRPr>
            </a:pPr>
            <a:r>
              <a:t>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79476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212529"/>
                </a:solidFill>
                <a:latin typeface="Segoe UI"/>
              </a:defRPr>
            </a:pPr>
            <a:r>
              <a:t>Success Indicators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096512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000" b="0">
                <a:solidFill>
                  <a:srgbClr val="495057"/>
                </a:solidFill>
                <a:latin typeface="Segoe UI"/>
              </a:defRPr>
            </a:pPr>
            <a:r>
              <a:t>LLM decides what constitutes a 'finding' per test. Baseline uses heuristic pattern matching.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51960" y="3383280"/>
            <a:ext cx="3611880" cy="1417320"/>
          </a:xfrm>
          <a:prstGeom prst="roundRect">
            <a:avLst>
              <a:gd name="adj" fmla="val 4000"/>
            </a:avLst>
          </a:prstGeom>
          <a:solidFill>
            <a:srgbClr val="F3F0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34840" y="3493008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34840" y="3511296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800" b="1">
                <a:solidFill>
                  <a:srgbClr val="FFFFFF"/>
                </a:solidFill>
                <a:latin typeface="Segoe UI"/>
              </a:defRPr>
            </a:pPr>
            <a:r>
              <a:t>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379476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212529"/>
                </a:solidFill>
                <a:latin typeface="Segoe UI"/>
              </a:defRPr>
            </a:pPr>
            <a:r>
              <a:t>Prioritize &amp; Triage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4096512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000" b="0">
                <a:solidFill>
                  <a:srgbClr val="495057"/>
                </a:solidFill>
                <a:latin typeface="Segoe UI"/>
              </a:defRPr>
            </a:pPr>
            <a:r>
              <a:t>Assigns severity based on real-world impact. Explains findings in your app's context.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3383280"/>
            <a:ext cx="3611880" cy="1417320"/>
          </a:xfrm>
          <a:prstGeom prst="roundRect">
            <a:avLst>
              <a:gd name="adj" fmla="val 4000"/>
            </a:avLst>
          </a:prstGeom>
          <a:solidFill>
            <a:srgbClr val="E7F5FF"/>
          </a:solidFill>
          <a:ln w="19050">
            <a:solidFill>
              <a:srgbClr val="228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29600" y="3493008"/>
            <a:ext cx="594359" cy="274320"/>
          </a:xfrm>
          <a:prstGeom prst="roundRect">
            <a:avLst>
              <a:gd name="adj" fmla="val 50000"/>
            </a:avLst>
          </a:prstGeom>
          <a:solidFill>
            <a:srgbClr val="228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3511296"/>
            <a:ext cx="5943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800" b="1">
                <a:solidFill>
                  <a:srgbClr val="FFFFFF"/>
                </a:solidFill>
                <a:latin typeface="Segoe UI"/>
              </a:defRPr>
            </a:pPr>
            <a:r>
              <a:t>TOOL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379476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212529"/>
                </a:solidFill>
                <a:latin typeface="Segoe UI"/>
              </a:defRPr>
            </a:pPr>
            <a:r>
              <a:t>Browser Automation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4096512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000" b="0">
                <a:solidFill>
                  <a:srgbClr val="495057"/>
                </a:solidFill>
                <a:latin typeface="Segoe UI"/>
              </a:defRPr>
            </a:pPr>
            <a:r>
              <a:t>Playwright drives Chromium: navigating, filling forms, clicking buttons, capturing screenshots.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D7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12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1">
                <a:solidFill>
                  <a:srgbClr val="868E96"/>
                </a:solidFill>
                <a:latin typeface="Segoe UI"/>
              </a:defRPr>
            </a:pPr>
            <a:r>
              <a:t>SENTINEL v1.0.0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defRPr sz="900" b="0">
                <a:solidFill>
                  <a:srgbClr val="868E96"/>
                </a:solidFill>
                <a:latin typeface="Segoe UI"/>
              </a:defRPr>
            </a:pPr>
            <a:r>
              <a:t>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300" b="1">
                <a:solidFill>
                  <a:srgbClr val="DC3545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00"/>
              </a:lnSpc>
              <a:defRPr sz="3400" b="1">
                <a:solidFill>
                  <a:srgbClr val="212529"/>
                </a:solidFill>
                <a:latin typeface="Segoe UI"/>
              </a:defRPr>
            </a:pPr>
            <a:r>
              <a:t>It Gets Smarter Over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500" b="0">
                <a:solidFill>
                  <a:srgbClr val="495057"/>
                </a:solidFill>
                <a:latin typeface="Segoe UI"/>
              </a:defRPr>
            </a:pPr>
            <a:r>
              <a:t>Every scan saves what it learned. Each app has its own isolated memory. Knowledge compounds.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21792"/>
            <a:ext cx="548640" cy="38100"/>
          </a:xfrm>
          <a:prstGeom prst="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828800"/>
            <a:ext cx="269748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1">
                <a:solidFill>
                  <a:srgbClr val="212529"/>
                </a:solidFill>
                <a:latin typeface="Segoe UI"/>
              </a:defRPr>
            </a:pPr>
            <a:r>
              <a:t>App</a:t>
            </a:r>
            <a:br/>
            <a:r>
              <a:t>Understanding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2316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000" b="0">
                <a:solidFill>
                  <a:srgbClr val="495057"/>
                </a:solidFill>
                <a:latin typeface="Segoe UI"/>
              </a:defRPr>
            </a:pPr>
            <a:r>
              <a:t>Pages, features, rules</a:t>
            </a:r>
            <a:br/>
            <a:r>
              <a:t>from your docs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828800"/>
            <a:ext cx="269748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92024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1">
                <a:solidFill>
                  <a:srgbClr val="212529"/>
                </a:solidFill>
                <a:latin typeface="Segoe UI"/>
              </a:defRPr>
            </a:pPr>
            <a:r>
              <a:t>Test</a:t>
            </a:r>
            <a:br/>
            <a:r>
              <a:t>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42316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000" b="0">
                <a:solidFill>
                  <a:srgbClr val="495057"/>
                </a:solidFill>
                <a:latin typeface="Segoe UI"/>
              </a:defRPr>
            </a:pPr>
            <a:r>
              <a:t>What was tested,</a:t>
            </a:r>
            <a:br/>
            <a:r>
              <a:t>passed, and failed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828800"/>
            <a:ext cx="269748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92024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1">
                <a:solidFill>
                  <a:srgbClr val="212529"/>
                </a:solidFill>
                <a:latin typeface="Segoe UI"/>
              </a:defRPr>
            </a:pPr>
            <a:r>
              <a:t>Effective</a:t>
            </a:r>
            <a:br/>
            <a:r>
              <a:t>Attacks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42316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000" b="0">
                <a:solidFill>
                  <a:srgbClr val="495057"/>
                </a:solidFill>
                <a:latin typeface="Segoe UI"/>
              </a:defRPr>
            </a:pPr>
            <a:r>
              <a:t>Attacks that found issues</a:t>
            </a:r>
            <a:br/>
            <a:r>
              <a:t>reused next scan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1828800"/>
            <a:ext cx="269748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92024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1">
                <a:solidFill>
                  <a:srgbClr val="212529"/>
                </a:solidFill>
                <a:latin typeface="Segoe UI"/>
              </a:defRPr>
            </a:pPr>
            <a:r>
              <a:t>Reusable</a:t>
            </a:r>
            <a:br/>
            <a:r>
              <a:t>Plans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42316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000" b="0">
                <a:solidFill>
                  <a:srgbClr val="495057"/>
                </a:solidFill>
                <a:latin typeface="Segoe UI"/>
              </a:defRPr>
            </a:pPr>
            <a:r>
              <a:t>Test plans stored</a:t>
            </a:r>
            <a:br/>
            <a:r>
              <a:t>and re-run anytime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291840"/>
            <a:ext cx="269748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2980" y="32461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00"/>
              </a:lnSpc>
              <a:defRPr sz="4400" b="1">
                <a:solidFill>
                  <a:srgbClr val="DC3545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" y="3840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900" b="1">
                <a:solidFill>
                  <a:srgbClr val="868E96"/>
                </a:solidFill>
                <a:latin typeface="Segoe UI"/>
              </a:defRPr>
            </a:pPr>
            <a:r>
              <a:t>SCANS RECORDED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40" y="3291840"/>
            <a:ext cx="269748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17620" y="32461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00"/>
              </a:lnSpc>
              <a:defRPr sz="4400" b="1">
                <a:solidFill>
                  <a:srgbClr val="FD7E14"/>
                </a:solidFill>
                <a:latin typeface="Segoe UI"/>
              </a:defRPr>
            </a:pPr>
            <a:r>
              <a:t>68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17620" y="3840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900" b="1">
                <a:solidFill>
                  <a:srgbClr val="868E96"/>
                </a:solidFill>
                <a:latin typeface="Segoe UI"/>
              </a:defRPr>
            </a:pPr>
            <a:r>
              <a:t>EFFECTIVE PAYLOADS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3291840"/>
            <a:ext cx="269748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52260" y="32461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00"/>
              </a:lnSpc>
              <a:defRPr sz="4400" b="1">
                <a:solidFill>
                  <a:srgbClr val="228BE6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2260" y="3840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900" b="1">
                <a:solidFill>
                  <a:srgbClr val="868E96"/>
                </a:solidFill>
                <a:latin typeface="Segoe UI"/>
              </a:defRPr>
            </a:pPr>
            <a:r>
              <a:t>TARGETS TRACKED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61120" y="3291840"/>
            <a:ext cx="269748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86900" y="32461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00"/>
              </a:lnSpc>
              <a:defRPr sz="4400" b="1">
                <a:solidFill>
                  <a:srgbClr val="7C3AED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86900" y="3840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900" b="1">
                <a:solidFill>
                  <a:srgbClr val="868E96"/>
                </a:solidFill>
                <a:latin typeface="Segoe UI"/>
              </a:defRPr>
            </a:pPr>
            <a:r>
              <a:t>ATTACK CATEGORIES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434840"/>
            <a:ext cx="3611880" cy="1097280"/>
          </a:xfrm>
          <a:prstGeom prst="roundRect">
            <a:avLst>
              <a:gd name="adj" fmla="val 4000"/>
            </a:avLst>
          </a:prstGeom>
          <a:solidFill>
            <a:srgbClr val="FCE4E7"/>
          </a:solidFill>
          <a:ln w="19050">
            <a:solidFill>
              <a:srgbClr val="DC3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52628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300" b="1">
                <a:solidFill>
                  <a:srgbClr val="DC3545"/>
                </a:solidFill>
                <a:latin typeface="Segoe UI"/>
              </a:defRPr>
            </a:pPr>
            <a:r>
              <a:t>Scan 1 -- Cold Start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4846320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343A40"/>
                </a:solidFill>
                <a:latin typeface="Segoe UI"/>
              </a:defRPr>
            </a:pPr>
            <a:r>
              <a:t>No prior knowledge. AI generates from docs + recon. Discovers initial vulnerabilities.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51960" y="4434840"/>
            <a:ext cx="3611880" cy="1097280"/>
          </a:xfrm>
          <a:prstGeom prst="roundRect">
            <a:avLst>
              <a:gd name="adj" fmla="val 4000"/>
            </a:avLst>
          </a:prstGeom>
          <a:solidFill>
            <a:srgbClr val="FFF4E6"/>
          </a:solidFill>
          <a:ln w="19050">
            <a:solidFill>
              <a:srgbClr val="FD7E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80560" y="452628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300" b="1">
                <a:solidFill>
                  <a:srgbClr val="FD7E14"/>
                </a:solidFill>
                <a:latin typeface="Segoe UI"/>
              </a:defRPr>
            </a:pPr>
            <a:r>
              <a:t>Scan 5 -- Warm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4846320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343A40"/>
                </a:solidFill>
                <a:latin typeface="Segoe UI"/>
              </a:defRPr>
            </a:pPr>
            <a:r>
              <a:t>40+ effective payloads saved. AI reuses proven attacks, focuses on unexplored surfaces.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20" y="4434840"/>
            <a:ext cx="3611880" cy="1097280"/>
          </a:xfrm>
          <a:prstGeom prst="roundRect">
            <a:avLst>
              <a:gd name="adj" fmla="val 4000"/>
            </a:avLst>
          </a:prstGeom>
          <a:solidFill>
            <a:srgbClr val="EBFBEE"/>
          </a:solidFill>
          <a:ln w="19050">
            <a:solidFill>
              <a:srgbClr val="40C0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75320" y="452628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300" b="1">
                <a:solidFill>
                  <a:srgbClr val="40C057"/>
                </a:solidFill>
                <a:latin typeface="Segoe UI"/>
              </a:defRPr>
            </a:pPr>
            <a:r>
              <a:t>Scan 11 -- Current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4846320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343A40"/>
                </a:solidFill>
                <a:latin typeface="Segoe UI"/>
              </a:defRPr>
            </a:pPr>
            <a:r>
              <a:t>68 effective payloads. AI knows exactly which attacks work. Faster, more precise.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12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1">
                <a:solidFill>
                  <a:srgbClr val="868E96"/>
                </a:solidFill>
                <a:latin typeface="Segoe UI"/>
              </a:defRPr>
            </a:pPr>
            <a:r>
              <a:t>SENTINEL v1.0.0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defRPr sz="900" b="0">
                <a:solidFill>
                  <a:srgbClr val="868E96"/>
                </a:solidFill>
                <a:latin typeface="Segoe UI"/>
              </a:defRPr>
            </a:pPr>
            <a:r>
              <a:t>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300" b="1">
                <a:solidFill>
                  <a:srgbClr val="DC3545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00"/>
              </a:lnSpc>
              <a:defRPr sz="3400" b="1">
                <a:solidFill>
                  <a:srgbClr val="212529"/>
                </a:solidFill>
                <a:latin typeface="Segoe UI"/>
              </a:defRPr>
            </a:pPr>
            <a:r>
              <a:t>Six Types of Testing, One 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500" b="0">
                <a:solidFill>
                  <a:srgbClr val="495057"/>
                </a:solidFill>
                <a:latin typeface="Segoe UI"/>
              </a:defRPr>
            </a:pPr>
            <a:r>
              <a:t>Security, QA, input validation, accessibility, UX, and exploratory -- all in a single scan run.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21792"/>
            <a:ext cx="548640" cy="38100"/>
          </a:xfrm>
          <a:prstGeom prst="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1737360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FCE4E7"/>
          </a:solidFill>
          <a:ln w="12700">
            <a:solidFill>
              <a:srgbClr val="DC3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847088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865376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800" b="1">
                <a:solidFill>
                  <a:srgbClr val="FFFFFF"/>
                </a:solidFill>
                <a:latin typeface="Segoe UI"/>
              </a:defRPr>
            </a:pPr>
            <a:r>
              <a:t>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488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212529"/>
                </a:solidFill>
                <a:latin typeface="Segoe UI"/>
              </a:defRPr>
            </a:pPr>
            <a:r>
              <a:t>Can a Hacker Break In?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45059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000" b="0">
                <a:solidFill>
                  <a:srgbClr val="495057"/>
                </a:solidFill>
                <a:latin typeface="Segoe UI"/>
              </a:defRPr>
            </a:pPr>
            <a:r>
              <a:t>SQLi, XSS, login bypass, file access. Documented with screenshot evidence.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1737360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E7F5FF"/>
          </a:solidFill>
          <a:ln w="12700">
            <a:solidFill>
              <a:srgbClr val="228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89120" y="1847088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228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86537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800" b="1">
                <a:solidFill>
                  <a:srgbClr val="FFFFFF"/>
                </a:solidFill>
                <a:latin typeface="Segoe UI"/>
              </a:defRPr>
            </a:pPr>
            <a:r>
              <a:t>FUNCTIONAL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1488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212529"/>
                </a:solidFill>
                <a:latin typeface="Segoe UI"/>
              </a:defRPr>
            </a:pPr>
            <a:r>
              <a:t>Does the App Work?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45059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000" b="0">
                <a:solidFill>
                  <a:srgbClr val="495057"/>
                </a:solidFill>
                <a:latin typeface="Segoe UI"/>
              </a:defRPr>
            </a:pPr>
            <a:r>
              <a:t>Search, login, dialogs, navigation -- tests features like a QA engineer.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737360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F3F0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0" y="1847088"/>
            <a:ext cx="1417319" cy="2743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865376"/>
            <a:ext cx="14173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800" b="1">
                <a:solidFill>
                  <a:srgbClr val="FFFFFF"/>
                </a:solidFill>
                <a:latin typeface="Segoe UI"/>
              </a:defRPr>
            </a:pPr>
            <a:r>
              <a:t>INPUT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1488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212529"/>
                </a:solidFill>
                <a:latin typeface="Segoe UI"/>
              </a:defRPr>
            </a:pPr>
            <a:r>
              <a:t>Bad Input Handling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45059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000" b="0">
                <a:solidFill>
                  <a:srgbClr val="495057"/>
                </a:solidFill>
                <a:latin typeface="Segoe UI"/>
              </a:defRPr>
            </a:pPr>
            <a:r>
              <a:t>Special chars, long text, empty fields, unicode. Graceful handling or crash?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246120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F3F0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3355848"/>
            <a:ext cx="1074419" cy="2743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374136"/>
            <a:ext cx="10744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800" b="1">
                <a:solidFill>
                  <a:srgbClr val="FFFFFF"/>
                </a:solidFill>
                <a:latin typeface="Segoe UI"/>
              </a:defRPr>
            </a:pPr>
            <a:r>
              <a:t>EXPLORATORY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6576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212529"/>
                </a:solidFill>
                <a:latin typeface="Segoe UI"/>
              </a:defRPr>
            </a:pPr>
            <a:r>
              <a:t>Edge Cases Nobody Tested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95935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000" b="0">
                <a:solidFill>
                  <a:srgbClr val="495057"/>
                </a:solidFill>
                <a:latin typeface="Segoe UI"/>
              </a:defRPr>
            </a:pPr>
            <a:r>
              <a:t>Invalid URLs, unexpected order, boundary values. Finds what scripts miss.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06240" y="3246120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EBFBEE"/>
          </a:solidFill>
          <a:ln w="12700">
            <a:solidFill>
              <a:srgbClr val="0CA6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89120" y="3355848"/>
            <a:ext cx="1211580" cy="274320"/>
          </a:xfrm>
          <a:prstGeom prst="roundRect">
            <a:avLst>
              <a:gd name="adj" fmla="val 50000"/>
            </a:avLst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0" y="3374136"/>
            <a:ext cx="12115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800" b="1">
                <a:solidFill>
                  <a:srgbClr val="FFFFFF"/>
                </a:solidFill>
                <a:latin typeface="Segoe UI"/>
              </a:defRPr>
            </a:pPr>
            <a:r>
              <a:t>ACCESSIBILITY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36576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212529"/>
                </a:solidFill>
                <a:latin typeface="Segoe UI"/>
              </a:defRPr>
            </a:pPr>
            <a:r>
              <a:t>WCAG Compliance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395935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000" b="0">
                <a:solidFill>
                  <a:srgbClr val="495057"/>
                </a:solidFill>
                <a:latin typeface="Segoe UI"/>
              </a:defRPr>
            </a:pPr>
            <a:r>
              <a:t>Missing alt text, labels, heading hierarchy, skip links, contrast ratios.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3246120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E7F5FF"/>
          </a:solidFill>
          <a:ln w="12700">
            <a:solidFill>
              <a:srgbClr val="228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29600" y="335584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228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337413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800" b="1">
                <a:solidFill>
                  <a:srgbClr val="FFFFFF"/>
                </a:solidFill>
                <a:latin typeface="Segoe UI"/>
              </a:defRPr>
            </a:pPr>
            <a:r>
              <a:t>UX / USABILITY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36576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212529"/>
                </a:solidFill>
                <a:latin typeface="Segoe UI"/>
              </a:defRPr>
            </a:pPr>
            <a:r>
              <a:t>Quality Checks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95935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000" b="0">
                <a:solidFill>
                  <a:srgbClr val="495057"/>
                </a:solidFill>
                <a:latin typeface="Segoe UI"/>
              </a:defRPr>
            </a:pPr>
            <a:r>
              <a:t>Broken images, dead links, slow loads, unlabeled inputs.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4754880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FCE4E7"/>
          </a:solidFill>
          <a:ln w="12700">
            <a:solidFill>
              <a:srgbClr val="DC3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48640" y="4864608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4882896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800" b="1">
                <a:solidFill>
                  <a:srgbClr val="FFFFFF"/>
                </a:solidFill>
                <a:latin typeface="Segoe UI"/>
              </a:defRPr>
            </a:pPr>
            <a:r>
              <a:t>API SECURITY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166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212529"/>
                </a:solidFill>
                <a:latin typeface="Segoe UI"/>
              </a:defRPr>
            </a:pPr>
            <a:r>
              <a:t>Tests Your APIs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46811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000" b="0">
                <a:solidFill>
                  <a:srgbClr val="495057"/>
                </a:solidFill>
                <a:latin typeface="Segoe UI"/>
              </a:defRPr>
            </a:pPr>
            <a:r>
              <a:t>SSRF, IDOR, mass assignment, info disclosure from API docs.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06240" y="4754880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FFF4E6"/>
          </a:solidFill>
          <a:ln w="12700">
            <a:solidFill>
              <a:srgbClr val="FD7E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389120" y="4864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FD7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9120" y="488289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800" b="1">
                <a:solidFill>
                  <a:srgbClr val="FFFFFF"/>
                </a:solidFill>
                <a:latin typeface="Segoe UI"/>
              </a:defRPr>
            </a:pPr>
            <a:r>
              <a:t>ENTERPRISE SSO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89120" y="5166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212529"/>
                </a:solidFill>
                <a:latin typeface="Segoe UI"/>
              </a:defRPr>
            </a:pPr>
            <a:r>
              <a:t>Works With Your SSO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0" y="546811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000" b="0">
                <a:solidFill>
                  <a:srgbClr val="495057"/>
                </a:solidFill>
                <a:latin typeface="Segoe UI"/>
              </a:defRPr>
            </a:pPr>
            <a:r>
              <a:t>IDP login, OAuth consent, MFA redirects. Okta, Azure AD, more.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4754880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EBFBEE"/>
          </a:solidFill>
          <a:ln w="12700">
            <a:solidFill>
              <a:srgbClr val="40C0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229600" y="4864608"/>
            <a:ext cx="1211580" cy="274320"/>
          </a:xfrm>
          <a:prstGeom prst="roundRect">
            <a:avLst>
              <a:gd name="adj" fmla="val 50000"/>
            </a:avLst>
          </a:prstGeom>
          <a:solidFill>
            <a:srgbClr val="40C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0" y="4882896"/>
            <a:ext cx="12115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800" b="1">
                <a:solidFill>
                  <a:srgbClr val="FFFFFF"/>
                </a:solidFill>
                <a:latin typeface="Segoe UI"/>
              </a:defRPr>
            </a:pPr>
            <a:r>
              <a:t>CI/CD REPORTS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5166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212529"/>
                </a:solidFill>
                <a:latin typeface="Segoe UI"/>
              </a:defRPr>
            </a:pPr>
            <a:r>
              <a:t>Pipeline-Ready Output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546811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000" b="0">
                <a:solidFill>
                  <a:srgbClr val="495057"/>
                </a:solidFill>
                <a:latin typeface="Segoe UI"/>
              </a:defRPr>
            </a:pPr>
            <a:r>
              <a:t>HTML, Markdown, SARIF with CWE. Plugs into GitHub Security tab.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12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1">
                <a:solidFill>
                  <a:srgbClr val="868E96"/>
                </a:solidFill>
                <a:latin typeface="Segoe UI"/>
              </a:defRPr>
            </a:pPr>
            <a:r>
              <a:t>SENTINEL v1.0.0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defRPr sz="900" b="0">
                <a:solidFill>
                  <a:srgbClr val="868E96"/>
                </a:solidFill>
                <a:latin typeface="Segoe UI"/>
              </a:defRPr>
            </a:pPr>
            <a:r>
              <a:t>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300" b="1">
                <a:solidFill>
                  <a:srgbClr val="DC3545"/>
                </a:solidFill>
                <a:latin typeface="Segoe UI"/>
              </a:defRPr>
            </a:pPr>
            <a:r>
              <a:t>04b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00"/>
              </a:lnSpc>
              <a:defRPr sz="3400" b="1">
                <a:solidFill>
                  <a:srgbClr val="212529"/>
                </a:solidFill>
                <a:latin typeface="Segoe UI"/>
              </a:defRPr>
            </a:pPr>
            <a:r>
              <a:t>16 Attack Categories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500" b="0">
                <a:solidFill>
                  <a:srgbClr val="495057"/>
                </a:solidFill>
                <a:latin typeface="Segoe UI"/>
              </a:defRPr>
            </a:pPr>
            <a:r>
              <a:t>From OWASP Top 10 to accessibility and UX -- comprehensive coverage in every scan.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21792"/>
            <a:ext cx="548640" cy="38100"/>
          </a:xfrm>
          <a:prstGeom prst="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1737360"/>
            <a:ext cx="2697480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4904" y="1746504"/>
            <a:ext cx="54864" cy="420624"/>
          </a:xfrm>
          <a:prstGeom prst="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79222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1">
                <a:solidFill>
                  <a:srgbClr val="212529"/>
                </a:solidFill>
                <a:latin typeface="Segoe UI"/>
              </a:defRPr>
            </a:pPr>
            <a:r>
              <a:t>SQL Injection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13432" y="1819656"/>
            <a:ext cx="676656" cy="256032"/>
          </a:xfrm>
          <a:prstGeom prst="roundRect">
            <a:avLst>
              <a:gd name="adj" fmla="val 40000"/>
            </a:avLst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13432" y="1819656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800" b="1">
                <a:solidFill>
                  <a:srgbClr val="FFFFFF"/>
                </a:solidFill>
                <a:latin typeface="Segoe UI"/>
              </a:defRPr>
            </a:pPr>
            <a:r>
              <a:t>CRITICAL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1737360"/>
            <a:ext cx="2697480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55264" y="1746504"/>
            <a:ext cx="54864" cy="420624"/>
          </a:xfrm>
          <a:prstGeom prst="rect">
            <a:avLst/>
          </a:prstGeom>
          <a:solidFill>
            <a:srgbClr val="FD7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0712" y="179222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1">
                <a:solidFill>
                  <a:srgbClr val="212529"/>
                </a:solidFill>
                <a:latin typeface="Segoe UI"/>
              </a:defRPr>
            </a:pPr>
            <a:r>
              <a:t>Cross-Site Scripting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31536" y="1819656"/>
            <a:ext cx="438912" cy="256032"/>
          </a:xfrm>
          <a:prstGeom prst="roundRect">
            <a:avLst>
              <a:gd name="adj" fmla="val 40000"/>
            </a:avLst>
          </a:prstGeom>
          <a:solidFill>
            <a:srgbClr val="FD7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31536" y="1819656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800" b="1">
                <a:solidFill>
                  <a:srgbClr val="FFFFFF"/>
                </a:solidFill>
                <a:latin typeface="Segoe UI"/>
              </a:defRPr>
            </a:pPr>
            <a:r>
              <a:t>HIGH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737360"/>
            <a:ext cx="2697480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35624" y="1746504"/>
            <a:ext cx="54864" cy="420624"/>
          </a:xfrm>
          <a:prstGeom prst="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179222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1">
                <a:solidFill>
                  <a:srgbClr val="212529"/>
                </a:solidFill>
                <a:latin typeface="Segoe UI"/>
              </a:defRPr>
            </a:pPr>
            <a:r>
              <a:t>Auth Bypass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4152" y="1819656"/>
            <a:ext cx="676656" cy="256032"/>
          </a:xfrm>
          <a:prstGeom prst="roundRect">
            <a:avLst>
              <a:gd name="adj" fmla="val 40000"/>
            </a:avLst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74152" y="1819656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800" b="1">
                <a:solidFill>
                  <a:srgbClr val="FFFFFF"/>
                </a:solidFill>
                <a:latin typeface="Segoe UI"/>
              </a:defRPr>
            </a:pPr>
            <a:r>
              <a:t>CRITICAL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6840" y="1737360"/>
            <a:ext cx="2697480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15984" y="1746504"/>
            <a:ext cx="54864" cy="420624"/>
          </a:xfrm>
          <a:prstGeom prst="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71432" y="179222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1">
                <a:solidFill>
                  <a:srgbClr val="212529"/>
                </a:solidFill>
                <a:latin typeface="Segoe UI"/>
              </a:defRPr>
            </a:pPr>
            <a:r>
              <a:t>Path Traversal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54512" y="1819656"/>
            <a:ext cx="676656" cy="256032"/>
          </a:xfrm>
          <a:prstGeom prst="roundRect">
            <a:avLst>
              <a:gd name="adj" fmla="val 40000"/>
            </a:avLst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54512" y="1819656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800" b="1">
                <a:solidFill>
                  <a:srgbClr val="FFFFFF"/>
                </a:solidFill>
                <a:latin typeface="Segoe UI"/>
              </a:defRPr>
            </a:pPr>
            <a:r>
              <a:t>CRITICAL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2267712"/>
            <a:ext cx="2697480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74904" y="2276856"/>
            <a:ext cx="54864" cy="420624"/>
          </a:xfrm>
          <a:prstGeom prst="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232257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1">
                <a:solidFill>
                  <a:srgbClr val="212529"/>
                </a:solidFill>
                <a:latin typeface="Segoe UI"/>
              </a:defRPr>
            </a:pPr>
            <a:r>
              <a:t>SSRF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313432" y="2350008"/>
            <a:ext cx="676656" cy="256032"/>
          </a:xfrm>
          <a:prstGeom prst="roundRect">
            <a:avLst>
              <a:gd name="adj" fmla="val 40000"/>
            </a:avLst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13432" y="2350008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800" b="1">
                <a:solidFill>
                  <a:srgbClr val="FFFFFF"/>
                </a:solidFill>
                <a:latin typeface="Segoe UI"/>
              </a:defRPr>
            </a:pPr>
            <a:r>
              <a:t>CRITICAL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46120" y="2267712"/>
            <a:ext cx="2697480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55264" y="2276856"/>
            <a:ext cx="54864" cy="420624"/>
          </a:xfrm>
          <a:prstGeom prst="rect">
            <a:avLst/>
          </a:prstGeom>
          <a:solidFill>
            <a:srgbClr val="FD7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10712" y="232257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1">
                <a:solidFill>
                  <a:srgbClr val="212529"/>
                </a:solidFill>
                <a:latin typeface="Segoe UI"/>
              </a:defRPr>
            </a:pPr>
            <a:r>
              <a:t>IDOR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31536" y="2350008"/>
            <a:ext cx="438912" cy="256032"/>
          </a:xfrm>
          <a:prstGeom prst="roundRect">
            <a:avLst>
              <a:gd name="adj" fmla="val 40000"/>
            </a:avLst>
          </a:prstGeom>
          <a:solidFill>
            <a:srgbClr val="FD7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31536" y="2350008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800" b="1">
                <a:solidFill>
                  <a:srgbClr val="FFFFFF"/>
                </a:solidFill>
                <a:latin typeface="Segoe UI"/>
              </a:defRPr>
            </a:pPr>
            <a:r>
              <a:t>HIGH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26480" y="2267712"/>
            <a:ext cx="2697480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35624" y="2276856"/>
            <a:ext cx="54864" cy="420624"/>
          </a:xfrm>
          <a:prstGeom prst="rect">
            <a:avLst/>
          </a:prstGeom>
          <a:solidFill>
            <a:srgbClr val="FD7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91072" y="232257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1">
                <a:solidFill>
                  <a:srgbClr val="212529"/>
                </a:solidFill>
                <a:latin typeface="Segoe UI"/>
              </a:defRPr>
            </a:pPr>
            <a:r>
              <a:t>Info Disclosure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11896" y="2350008"/>
            <a:ext cx="438912" cy="256032"/>
          </a:xfrm>
          <a:prstGeom prst="roundRect">
            <a:avLst>
              <a:gd name="adj" fmla="val 40000"/>
            </a:avLst>
          </a:prstGeom>
          <a:solidFill>
            <a:srgbClr val="FD7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11896" y="2350008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800" b="1">
                <a:solidFill>
                  <a:srgbClr val="FFFFFF"/>
                </a:solidFill>
                <a:latin typeface="Segoe UI"/>
              </a:defRPr>
            </a:pPr>
            <a:r>
              <a:t>HIGH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06840" y="2267712"/>
            <a:ext cx="2697480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15984" y="2276856"/>
            <a:ext cx="54864" cy="420624"/>
          </a:xfrm>
          <a:prstGeom prst="rect">
            <a:avLst/>
          </a:prstGeom>
          <a:solidFill>
            <a:srgbClr val="FAB0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71432" y="232257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1">
                <a:solidFill>
                  <a:srgbClr val="212529"/>
                </a:solidFill>
                <a:latin typeface="Segoe UI"/>
              </a:defRPr>
            </a:pPr>
            <a:r>
              <a:t>Open Redirect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073384" y="2350008"/>
            <a:ext cx="557784" cy="256032"/>
          </a:xfrm>
          <a:prstGeom prst="roundRect">
            <a:avLst>
              <a:gd name="adj" fmla="val 40000"/>
            </a:avLst>
          </a:prstGeom>
          <a:solidFill>
            <a:srgbClr val="FAB0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073384" y="2350008"/>
            <a:ext cx="5577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800" b="1">
                <a:solidFill>
                  <a:srgbClr val="000000"/>
                </a:solidFill>
                <a:latin typeface="Segoe UI"/>
              </a:defRPr>
            </a:pPr>
            <a:r>
              <a:t>MEDIUM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5760" y="2798064"/>
            <a:ext cx="2697480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74904" y="2807208"/>
            <a:ext cx="54864" cy="420624"/>
          </a:xfrm>
          <a:prstGeom prst="rect">
            <a:avLst/>
          </a:prstGeom>
          <a:solidFill>
            <a:srgbClr val="FD7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0352" y="28529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1">
                <a:solidFill>
                  <a:srgbClr val="212529"/>
                </a:solidFill>
                <a:latin typeface="Segoe UI"/>
              </a:defRPr>
            </a:pPr>
            <a:r>
              <a:t>CORS / CSRF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551176" y="2880360"/>
            <a:ext cx="438912" cy="256032"/>
          </a:xfrm>
          <a:prstGeom prst="roundRect">
            <a:avLst>
              <a:gd name="adj" fmla="val 40000"/>
            </a:avLst>
          </a:prstGeom>
          <a:solidFill>
            <a:srgbClr val="FD7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51176" y="2880360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800" b="1">
                <a:solidFill>
                  <a:srgbClr val="FFFFFF"/>
                </a:solidFill>
                <a:latin typeface="Segoe UI"/>
              </a:defRPr>
            </a:pPr>
            <a:r>
              <a:t>HIGH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246120" y="2798064"/>
            <a:ext cx="2697480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255264" y="2807208"/>
            <a:ext cx="54864" cy="420624"/>
          </a:xfrm>
          <a:prstGeom prst="rect">
            <a:avLst/>
          </a:prstGeom>
          <a:solidFill>
            <a:srgbClr val="FAB0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410712" y="28529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1">
                <a:solidFill>
                  <a:srgbClr val="212529"/>
                </a:solidFill>
                <a:latin typeface="Segoe UI"/>
              </a:defRPr>
            </a:pPr>
            <a:r>
              <a:t>Storage Exposure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312664" y="2880360"/>
            <a:ext cx="557784" cy="256032"/>
          </a:xfrm>
          <a:prstGeom prst="roundRect">
            <a:avLst>
              <a:gd name="adj" fmla="val 40000"/>
            </a:avLst>
          </a:prstGeom>
          <a:solidFill>
            <a:srgbClr val="FAB0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12664" y="2880360"/>
            <a:ext cx="5577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800" b="1">
                <a:solidFill>
                  <a:srgbClr val="000000"/>
                </a:solidFill>
                <a:latin typeface="Segoe UI"/>
              </a:defRPr>
            </a:pPr>
            <a:r>
              <a:t>MEDIUM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126480" y="2798064"/>
            <a:ext cx="2697480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135624" y="2807208"/>
            <a:ext cx="54864" cy="420624"/>
          </a:xfrm>
          <a:prstGeom prst="rect">
            <a:avLst/>
          </a:prstGeom>
          <a:solidFill>
            <a:srgbClr val="FAB0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91072" y="28529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1">
                <a:solidFill>
                  <a:srgbClr val="212529"/>
                </a:solidFill>
                <a:latin typeface="Segoe UI"/>
              </a:defRPr>
            </a:pPr>
            <a:r>
              <a:t>Input Validation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193024" y="2880360"/>
            <a:ext cx="557784" cy="256032"/>
          </a:xfrm>
          <a:prstGeom prst="roundRect">
            <a:avLst>
              <a:gd name="adj" fmla="val 40000"/>
            </a:avLst>
          </a:prstGeom>
          <a:solidFill>
            <a:srgbClr val="FAB0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93024" y="2880360"/>
            <a:ext cx="5577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800" b="1">
                <a:solidFill>
                  <a:srgbClr val="000000"/>
                </a:solidFill>
                <a:latin typeface="Segoe UI"/>
              </a:defRPr>
            </a:pPr>
            <a:r>
              <a:t>MEDIUM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006840" y="2798064"/>
            <a:ext cx="2697480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015984" y="2807208"/>
            <a:ext cx="54864" cy="420624"/>
          </a:xfrm>
          <a:prstGeom prst="rect">
            <a:avLst/>
          </a:prstGeom>
          <a:solidFill>
            <a:srgbClr val="228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171432" y="28529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1">
                <a:solidFill>
                  <a:srgbClr val="212529"/>
                </a:solidFill>
                <a:latin typeface="Segoe UI"/>
              </a:defRPr>
            </a:pPr>
            <a:r>
              <a:t>Functional Tests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1311128" y="2880360"/>
            <a:ext cx="320040" cy="256032"/>
          </a:xfrm>
          <a:prstGeom prst="roundRect">
            <a:avLst>
              <a:gd name="adj" fmla="val 40000"/>
            </a:avLst>
          </a:prstGeom>
          <a:solidFill>
            <a:srgbClr val="228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311128" y="288036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800" b="1">
                <a:solidFill>
                  <a:srgbClr val="FFFFFF"/>
                </a:solidFill>
                <a:latin typeface="Segoe UI"/>
              </a:defRPr>
            </a:pPr>
            <a:r>
              <a:t>QA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65760" y="3328416"/>
            <a:ext cx="2697480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74904" y="3337560"/>
            <a:ext cx="54864" cy="4206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30352" y="33832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1">
                <a:solidFill>
                  <a:srgbClr val="212529"/>
                </a:solidFill>
                <a:latin typeface="Segoe UI"/>
              </a:defRPr>
            </a:pPr>
            <a:r>
              <a:t>Exploratory Tests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372868" y="3410712"/>
            <a:ext cx="617220" cy="256032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372868" y="3410712"/>
            <a:ext cx="6172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800" b="1">
                <a:solidFill>
                  <a:srgbClr val="FFFFFF"/>
                </a:solidFill>
                <a:latin typeface="Segoe UI"/>
              </a:defRPr>
            </a:pPr>
            <a:r>
              <a:t>EXPLORE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246120" y="3328416"/>
            <a:ext cx="2697480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255264" y="3337560"/>
            <a:ext cx="54864" cy="420624"/>
          </a:xfrm>
          <a:prstGeom prst="rect">
            <a:avLst/>
          </a:prstGeom>
          <a:solidFill>
            <a:srgbClr val="FAB0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410712" y="33832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1">
                <a:solidFill>
                  <a:srgbClr val="212529"/>
                </a:solidFill>
                <a:latin typeface="Segoe UI"/>
              </a:defRPr>
            </a:pPr>
            <a:r>
              <a:t>DoS / ReDoS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312664" y="3410712"/>
            <a:ext cx="557784" cy="256032"/>
          </a:xfrm>
          <a:prstGeom prst="roundRect">
            <a:avLst>
              <a:gd name="adj" fmla="val 40000"/>
            </a:avLst>
          </a:prstGeom>
          <a:solidFill>
            <a:srgbClr val="FAB0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312664" y="3410712"/>
            <a:ext cx="5577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800" b="1">
                <a:solidFill>
                  <a:srgbClr val="000000"/>
                </a:solidFill>
                <a:latin typeface="Segoe UI"/>
              </a:defRPr>
            </a:pPr>
            <a:r>
              <a:t>MEDIUM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126480" y="3328416"/>
            <a:ext cx="2697480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135624" y="3337560"/>
            <a:ext cx="54864" cy="420624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291072" y="33832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1">
                <a:solidFill>
                  <a:srgbClr val="212529"/>
                </a:solidFill>
                <a:latin typeface="Segoe UI"/>
              </a:defRPr>
            </a:pPr>
            <a:r>
              <a:t>Accessibility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311896" y="3410712"/>
            <a:ext cx="438912" cy="256032"/>
          </a:xfrm>
          <a:prstGeom prst="roundRect">
            <a:avLst>
              <a:gd name="adj" fmla="val 40000"/>
            </a:avLst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311896" y="3410712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800" b="1">
                <a:solidFill>
                  <a:srgbClr val="FFFFFF"/>
                </a:solidFill>
                <a:latin typeface="Segoe UI"/>
              </a:defRPr>
            </a:pPr>
            <a:r>
              <a:t>A11Y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006840" y="3328416"/>
            <a:ext cx="2697480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015984" y="3337560"/>
            <a:ext cx="54864" cy="420624"/>
          </a:xfrm>
          <a:prstGeom prst="rect">
            <a:avLst/>
          </a:prstGeom>
          <a:solidFill>
            <a:srgbClr val="228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171432" y="33832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1">
                <a:solidFill>
                  <a:srgbClr val="212529"/>
                </a:solidFill>
                <a:latin typeface="Segoe UI"/>
              </a:defRPr>
            </a:pPr>
            <a:r>
              <a:t>UX / Usability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1311128" y="3410712"/>
            <a:ext cx="320040" cy="256032"/>
          </a:xfrm>
          <a:prstGeom prst="roundRect">
            <a:avLst>
              <a:gd name="adj" fmla="val 40000"/>
            </a:avLst>
          </a:prstGeom>
          <a:solidFill>
            <a:srgbClr val="228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1311128" y="3410712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800" b="1">
                <a:solidFill>
                  <a:srgbClr val="FFFFFF"/>
                </a:solidFill>
                <a:latin typeface="Segoe UI"/>
              </a:defRPr>
            </a:pPr>
            <a:r>
              <a:t>UX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4008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600" b="1">
                <a:solidFill>
                  <a:srgbClr val="212529"/>
                </a:solidFill>
                <a:latin typeface="Segoe UI"/>
              </a:defRPr>
            </a:pPr>
            <a:r>
              <a:t>5 Authentication Methods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365760" y="4389120"/>
            <a:ext cx="2194560" cy="731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28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02920" y="443484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1">
                <a:solidFill>
                  <a:srgbClr val="228BE6"/>
                </a:solidFill>
                <a:latin typeface="Consolas"/>
              </a:defRPr>
            </a:pPr>
            <a:r>
              <a:t>form-login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02920" y="468172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495057"/>
                </a:solidFill>
                <a:latin typeface="Segoe UI"/>
              </a:defRPr>
            </a:pPr>
            <a:r>
              <a:t>Auto-fill &amp; submit login form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2670048" y="4389120"/>
            <a:ext cx="2194560" cy="731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FD7E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807208" y="443484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1">
                <a:solidFill>
                  <a:srgbClr val="FD7E14"/>
                </a:solidFill>
                <a:latin typeface="Consolas"/>
              </a:defRPr>
            </a:pPr>
            <a:r>
              <a:t>idp-login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807208" y="468172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495057"/>
                </a:solidFill>
                <a:latin typeface="Segoe UI"/>
              </a:defRPr>
            </a:pPr>
            <a:r>
              <a:t>Full IDP/OAuth/SSO flow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974336" y="4389120"/>
            <a:ext cx="2194560" cy="731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0C0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111496" y="443484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1">
                <a:solidFill>
                  <a:srgbClr val="40C057"/>
                </a:solidFill>
                <a:latin typeface="Consolas"/>
              </a:defRPr>
            </a:pPr>
            <a:r>
              <a:t>cookie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111496" y="468172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495057"/>
                </a:solidFill>
                <a:latin typeface="Segoe UI"/>
              </a:defRPr>
            </a:pPr>
            <a:r>
              <a:t>Inject session cookies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7278624" y="4389120"/>
            <a:ext cx="2194560" cy="731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415784" y="443484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1">
                <a:solidFill>
                  <a:srgbClr val="7C3AED"/>
                </a:solidFill>
                <a:latin typeface="Consolas"/>
              </a:defRPr>
            </a:pPr>
            <a:r>
              <a:t>bearer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415784" y="468172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495057"/>
                </a:solidFill>
                <a:latin typeface="Segoe UI"/>
              </a:defRPr>
            </a:pPr>
            <a:r>
              <a:t>Authorization: Bearer header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582912" y="4389120"/>
            <a:ext cx="2194560" cy="731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868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720072" y="443484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1">
                <a:solidFill>
                  <a:srgbClr val="868E96"/>
                </a:solidFill>
                <a:latin typeface="Consolas"/>
              </a:defRPr>
            </a:pPr>
            <a:r>
              <a:t>basic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720072" y="468172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495057"/>
                </a:solidFill>
                <a:latin typeface="Segoe UI"/>
              </a:defRPr>
            </a:pPr>
            <a:r>
              <a:t>HTTP Basic auth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12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1">
                <a:solidFill>
                  <a:srgbClr val="868E96"/>
                </a:solidFill>
                <a:latin typeface="Segoe UI"/>
              </a:defRPr>
            </a:pPr>
            <a:r>
              <a:t>SENTINEL v1.0.0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defRPr sz="900" b="0">
                <a:solidFill>
                  <a:srgbClr val="868E96"/>
                </a:solidFill>
                <a:latin typeface="Segoe UI"/>
              </a:defRPr>
            </a:pPr>
            <a:r>
              <a:t>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300" b="1">
                <a:solidFill>
                  <a:srgbClr val="DC3545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00"/>
              </a:lnSpc>
              <a:defRPr sz="3400" b="1">
                <a:solidFill>
                  <a:srgbClr val="212529"/>
                </a:solidFill>
                <a:latin typeface="Segoe UI"/>
              </a:defRPr>
            </a:pPr>
            <a:r>
              <a:t>Web Dashboard -- The Primary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500" b="0">
                <a:solidFill>
                  <a:srgbClr val="495057"/>
                </a:solidFill>
                <a:latin typeface="Segoe UI"/>
              </a:defRPr>
            </a:pPr>
            <a:r>
              <a:t>Run SENTINEL from your browser. Real-time progress, interactive results, downloadable reports.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21792"/>
            <a:ext cx="548640" cy="38100"/>
          </a:xfrm>
          <a:prstGeom prst="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1737360"/>
            <a:ext cx="3657600" cy="1463040"/>
          </a:xfrm>
          <a:prstGeom prst="roundRect">
            <a:avLst>
              <a:gd name="adj" fmla="val 4000"/>
            </a:avLst>
          </a:prstGeom>
          <a:solidFill>
            <a:srgbClr val="FCE4E7"/>
          </a:solidFill>
          <a:ln w="12700">
            <a:solidFill>
              <a:srgbClr val="DC3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874519"/>
            <a:ext cx="937259" cy="274320"/>
          </a:xfrm>
          <a:prstGeom prst="roundRect">
            <a:avLst>
              <a:gd name="adj" fmla="val 50000"/>
            </a:avLst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892807"/>
            <a:ext cx="9372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800" b="1">
                <a:solidFill>
                  <a:srgbClr val="FFFFFF"/>
                </a:solidFill>
                <a:latin typeface="Segoe UI"/>
              </a:defRPr>
            </a:pPr>
            <a:r>
              <a:t>REAL-TIME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94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500" b="1">
                <a:solidFill>
                  <a:srgbClr val="212529"/>
                </a:solidFill>
                <a:latin typeface="Segoe UI"/>
              </a:defRPr>
            </a:pPr>
            <a:r>
              <a:t>Live Scan Progress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5146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495057"/>
                </a:solidFill>
                <a:latin typeface="Segoe UI"/>
              </a:defRPr>
            </a:pPr>
            <a:r>
              <a:t>Watch every phase via Server-Sent Events. No page refreshes needed.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1737360"/>
            <a:ext cx="3657600" cy="1463040"/>
          </a:xfrm>
          <a:prstGeom prst="roundRect">
            <a:avLst>
              <a:gd name="adj" fmla="val 4000"/>
            </a:avLst>
          </a:prstGeom>
          <a:solidFill>
            <a:srgbClr val="F3F0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89120" y="1874519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892807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800" b="1">
                <a:solidFill>
                  <a:srgbClr val="FFFFFF"/>
                </a:solidFill>
                <a:latin typeface="Segoe UI"/>
              </a:defRPr>
            </a:pPr>
            <a:r>
              <a:t>AI-POWERED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194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500" b="1">
                <a:solidFill>
                  <a:srgbClr val="212529"/>
                </a:solidFill>
                <a:latin typeface="Segoe UI"/>
              </a:defRPr>
            </a:pPr>
            <a:r>
              <a:t>GitHub Models (GPT-4o)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5146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495057"/>
                </a:solidFill>
                <a:latin typeface="Segoe UI"/>
              </a:defRPr>
            </a:pPr>
            <a:r>
              <a:t>Set GITHUB_TOKEN and the AI handles everything. No config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737360"/>
            <a:ext cx="3657600" cy="1463040"/>
          </a:xfrm>
          <a:prstGeom prst="roundRect">
            <a:avLst>
              <a:gd name="adj" fmla="val 4000"/>
            </a:avLst>
          </a:prstGeom>
          <a:solidFill>
            <a:srgbClr val="EBFBEE"/>
          </a:solidFill>
          <a:ln w="12700">
            <a:solidFill>
              <a:srgbClr val="40C0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0" y="1874519"/>
            <a:ext cx="1074419" cy="274320"/>
          </a:xfrm>
          <a:prstGeom prst="roundRect">
            <a:avLst>
              <a:gd name="adj" fmla="val 50000"/>
            </a:avLst>
          </a:prstGeom>
          <a:solidFill>
            <a:srgbClr val="40C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892807"/>
            <a:ext cx="10744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800" b="1">
                <a:solidFill>
                  <a:srgbClr val="FFFFFF"/>
                </a:solidFill>
                <a:latin typeface="Segoe UI"/>
              </a:defRPr>
            </a:pPr>
            <a:r>
              <a:t>INTERACTIVE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194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500" b="1">
                <a:solidFill>
                  <a:srgbClr val="212529"/>
                </a:solidFill>
                <a:latin typeface="Segoe UI"/>
              </a:defRPr>
            </a:pPr>
            <a:r>
              <a:t>Rich Results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5146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495057"/>
                </a:solidFill>
                <a:latin typeface="Segoe UI"/>
              </a:defRPr>
            </a:pPr>
            <a:r>
              <a:t>Severity cards, risk gauge, expandable findings, one-click downloads.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474720"/>
            <a:ext cx="713232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566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600" b="1">
                <a:solidFill>
                  <a:srgbClr val="212529"/>
                </a:solidFill>
                <a:latin typeface="Segoe UI"/>
              </a:defRPr>
            </a:pPr>
            <a:r>
              <a:t>Dashboard 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9319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40C057"/>
                </a:solidFill>
                <a:latin typeface="Segoe UI"/>
              </a:defRPr>
            </a:pPr>
            <a:r>
              <a:rPr sz="1100" b="1">
                <a:solidFill>
                  <a:srgbClr val="40C057"/>
                </a:solidFill>
                <a:latin typeface="Segoe UI"/>
              </a:rPr>
              <a:t>  </a:t>
            </a:r>
            <a:r>
              <a:rPr sz="1100">
                <a:solidFill>
                  <a:srgbClr val="495057"/>
                </a:solidFill>
                <a:latin typeface="Segoe UI"/>
              </a:rPr>
              <a:t>URL input with auth config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39319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40C057"/>
                </a:solidFill>
                <a:latin typeface="Segoe UI"/>
              </a:defRPr>
            </a:pPr>
            <a:r>
              <a:rPr sz="1100" b="1">
                <a:solidFill>
                  <a:srgbClr val="40C057"/>
                </a:solidFill>
                <a:latin typeface="Segoe UI"/>
              </a:rPr>
              <a:t>  </a:t>
            </a:r>
            <a:r>
              <a:rPr sz="1100">
                <a:solidFill>
                  <a:srgbClr val="495057"/>
                </a:solidFill>
                <a:latin typeface="Segoe UI"/>
              </a:rPr>
              <a:t>Real-time SSE progress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39319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40C057"/>
                </a:solidFill>
                <a:latin typeface="Segoe UI"/>
              </a:defRPr>
            </a:pPr>
            <a:r>
              <a:rPr sz="1100" b="1">
                <a:solidFill>
                  <a:srgbClr val="40C057"/>
                </a:solidFill>
                <a:latin typeface="Segoe UI"/>
              </a:rPr>
              <a:t>  </a:t>
            </a:r>
            <a:r>
              <a:rPr sz="1100">
                <a:solidFill>
                  <a:srgbClr val="495057"/>
                </a:solidFill>
                <a:latin typeface="Segoe UI"/>
              </a:rPr>
              <a:t>Animated severity counters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3159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40C057"/>
                </a:solidFill>
                <a:latin typeface="Segoe UI"/>
              </a:defRPr>
            </a:pPr>
            <a:r>
              <a:rPr sz="1100" b="1">
                <a:solidFill>
                  <a:srgbClr val="40C057"/>
                </a:solidFill>
                <a:latin typeface="Segoe UI"/>
              </a:rPr>
              <a:t>  </a:t>
            </a:r>
            <a:r>
              <a:rPr sz="1100">
                <a:solidFill>
                  <a:srgbClr val="495057"/>
                </a:solidFill>
                <a:latin typeface="Segoe UI"/>
              </a:rPr>
              <a:t>Risk score gauge (0-100)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43159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40C057"/>
                </a:solidFill>
                <a:latin typeface="Segoe UI"/>
              </a:defRPr>
            </a:pPr>
            <a:r>
              <a:rPr sz="1100" b="1">
                <a:solidFill>
                  <a:srgbClr val="40C057"/>
                </a:solidFill>
                <a:latin typeface="Segoe UI"/>
              </a:rPr>
              <a:t>  </a:t>
            </a:r>
            <a:r>
              <a:rPr sz="1100">
                <a:solidFill>
                  <a:srgbClr val="495057"/>
                </a:solidFill>
                <a:latin typeface="Segoe UI"/>
              </a:rPr>
              <a:t>Expandable finding cards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43159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40C057"/>
                </a:solidFill>
                <a:latin typeface="Segoe UI"/>
              </a:defRPr>
            </a:pPr>
            <a:r>
              <a:rPr sz="1100" b="1">
                <a:solidFill>
                  <a:srgbClr val="40C057"/>
                </a:solidFill>
                <a:latin typeface="Segoe UI"/>
              </a:rPr>
              <a:t>  </a:t>
            </a:r>
            <a:r>
              <a:rPr sz="1100">
                <a:solidFill>
                  <a:srgbClr val="495057"/>
                </a:solidFill>
                <a:latin typeface="Segoe UI"/>
              </a:rPr>
              <a:t>Category breakdown chart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7000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40C057"/>
                </a:solidFill>
                <a:latin typeface="Segoe UI"/>
              </a:defRPr>
            </a:pPr>
            <a:r>
              <a:rPr sz="1100" b="1">
                <a:solidFill>
                  <a:srgbClr val="40C057"/>
                </a:solidFill>
                <a:latin typeface="Segoe UI"/>
              </a:rPr>
              <a:t>  </a:t>
            </a:r>
            <a:r>
              <a:rPr sz="1100">
                <a:solidFill>
                  <a:srgbClr val="495057"/>
                </a:solidFill>
                <a:latin typeface="Segoe UI"/>
              </a:rPr>
              <a:t>Evidence + repro steps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47000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40C057"/>
                </a:solidFill>
                <a:latin typeface="Segoe UI"/>
              </a:defRPr>
            </a:pPr>
            <a:r>
              <a:rPr sz="1100" b="1">
                <a:solidFill>
                  <a:srgbClr val="40C057"/>
                </a:solidFill>
                <a:latin typeface="Segoe UI"/>
              </a:rPr>
              <a:t>  </a:t>
            </a:r>
            <a:r>
              <a:rPr sz="1100">
                <a:solidFill>
                  <a:srgbClr val="495057"/>
                </a:solidFill>
                <a:latin typeface="Segoe UI"/>
              </a:rPr>
              <a:t>CWE + remediation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47000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40C057"/>
                </a:solidFill>
                <a:latin typeface="Segoe UI"/>
              </a:defRPr>
            </a:pPr>
            <a:r>
              <a:rPr sz="1100" b="1">
                <a:solidFill>
                  <a:srgbClr val="40C057"/>
                </a:solidFill>
                <a:latin typeface="Segoe UI"/>
              </a:rPr>
              <a:t>  </a:t>
            </a:r>
            <a:r>
              <a:rPr sz="1100">
                <a:solidFill>
                  <a:srgbClr val="495057"/>
                </a:solidFill>
                <a:latin typeface="Segoe UI"/>
              </a:rPr>
              <a:t>HTML/MD/SARIF/JSON downloads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08406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40C057"/>
                </a:solidFill>
                <a:latin typeface="Segoe UI"/>
              </a:defRPr>
            </a:pPr>
            <a:r>
              <a:rPr sz="1100" b="1">
                <a:solidFill>
                  <a:srgbClr val="40C057"/>
                </a:solidFill>
                <a:latin typeface="Segoe UI"/>
              </a:rPr>
              <a:t>  </a:t>
            </a:r>
            <a:r>
              <a:rPr sz="1100">
                <a:solidFill>
                  <a:srgbClr val="495057"/>
                </a:solidFill>
                <a:latin typeface="Segoe UI"/>
              </a:rPr>
              <a:t>Dark theme &amp; responsive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508406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40C057"/>
                </a:solidFill>
                <a:latin typeface="Segoe UI"/>
              </a:defRPr>
            </a:pPr>
            <a:r>
              <a:rPr sz="1100" b="1">
                <a:solidFill>
                  <a:srgbClr val="40C057"/>
                </a:solidFill>
                <a:latin typeface="Segoe UI"/>
              </a:rPr>
              <a:t>  </a:t>
            </a:r>
            <a:r>
              <a:rPr sz="1100">
                <a:solidFill>
                  <a:srgbClr val="495057"/>
                </a:solidFill>
                <a:latin typeface="Segoe UI"/>
              </a:rPr>
              <a:t>GitHub Models (GPT-4o)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0" y="508406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40C057"/>
                </a:solidFill>
                <a:latin typeface="Segoe UI"/>
              </a:defRPr>
            </a:pPr>
            <a:r>
              <a:rPr sz="1100" b="1">
                <a:solidFill>
                  <a:srgbClr val="40C057"/>
                </a:solidFill>
                <a:latin typeface="Segoe UI"/>
              </a:rPr>
              <a:t>  </a:t>
            </a:r>
            <a:r>
              <a:rPr sz="1100">
                <a:solidFill>
                  <a:srgbClr val="495057"/>
                </a:solidFill>
                <a:latin typeface="Segoe UI"/>
              </a:rPr>
              <a:t>16 attack categories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0" y="3474720"/>
            <a:ext cx="4023360" cy="2194560"/>
          </a:xfrm>
          <a:prstGeom prst="roundRect">
            <a:avLst>
              <a:gd name="adj" fmla="val 4000"/>
            </a:avLst>
          </a:prstGeom>
          <a:solidFill>
            <a:srgbClr val="212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001000" y="3611880"/>
            <a:ext cx="118872" cy="118872"/>
          </a:xfrm>
          <a:prstGeom prst="ellipse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229600" y="3611880"/>
            <a:ext cx="118872" cy="118872"/>
          </a:xfrm>
          <a:prstGeom prst="ellipse">
            <a:avLst/>
          </a:prstGeom>
          <a:solidFill>
            <a:srgbClr val="FAB0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458200" y="3611880"/>
            <a:ext cx="118872" cy="118872"/>
          </a:xfrm>
          <a:prstGeom prst="ellipse">
            <a:avLst/>
          </a:prstGeom>
          <a:solidFill>
            <a:srgbClr val="40C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01000" y="384048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868E96"/>
                </a:solidFill>
                <a:latin typeface="Consolas"/>
              </a:defRPr>
            </a:pPr>
            <a:r>
              <a:t># Quick start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100" b="0">
                <a:solidFill>
                  <a:srgbClr val="40C057"/>
                </a:solidFill>
                <a:latin typeface="Consolas"/>
              </a:defRPr>
            </a:pPr>
            <a:r>
              <a:t>$ cd web &amp;&amp; npm install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40C057"/>
                </a:solidFill>
                <a:latin typeface="Consolas"/>
              </a:defRPr>
            </a:pPr>
            <a:r>
              <a:t>$ echo "GITHUB_TOKEN=ghp_..." &gt; .env.local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40C057"/>
                </a:solidFill>
                <a:latin typeface="Consolas"/>
              </a:defRPr>
            </a:pPr>
            <a:r>
              <a:t>$ npm run dev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600" b="0">
                <a:solidFill>
                  <a:srgbClr val="212529"/>
                </a:solidFill>
                <a:latin typeface="Consolas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FAB005"/>
                </a:solidFill>
                <a:latin typeface="Consolas"/>
              </a:defRPr>
            </a:pPr>
            <a:r>
              <a:t>&gt; Dashboard at http://localhost:3000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12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1">
                <a:solidFill>
                  <a:srgbClr val="868E96"/>
                </a:solidFill>
                <a:latin typeface="Segoe UI"/>
              </a:defRPr>
            </a:pPr>
            <a:r>
              <a:t>SENTINEL v1.0.0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defRPr sz="900" b="0">
                <a:solidFill>
                  <a:srgbClr val="868E96"/>
                </a:solidFill>
                <a:latin typeface="Segoe UI"/>
              </a:defRPr>
            </a:pPr>
            <a:r>
              <a:t>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300" b="1">
                <a:solidFill>
                  <a:srgbClr val="DC3545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00"/>
              </a:lnSpc>
              <a:defRPr sz="3400" b="1">
                <a:solidFill>
                  <a:srgbClr val="212529"/>
                </a:solidFill>
                <a:latin typeface="Segoe UI"/>
              </a:defRPr>
            </a:pPr>
            <a:r>
              <a:t>VulnShop -- See It In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500" b="0">
                <a:solidFill>
                  <a:srgbClr val="495057"/>
                </a:solidFill>
                <a:latin typeface="Segoe UI"/>
              </a:defRPr>
            </a:pPr>
            <a:r>
              <a:t>Built-in deliberately vulnerable demo app. One command to launch, one scan for full results.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21792"/>
            <a:ext cx="548640" cy="38100"/>
          </a:xfrm>
          <a:prstGeom prst="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26974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2980" y="16459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00"/>
              </a:lnSpc>
              <a:defRPr sz="4400" b="1">
                <a:solidFill>
                  <a:srgbClr val="228BE6"/>
                </a:solidFill>
                <a:latin typeface="Segoe UI"/>
              </a:defRPr>
            </a:pPr>
            <a:r>
              <a:t>5+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2980" y="2240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900" b="1">
                <a:solidFill>
                  <a:srgbClr val="868E96"/>
                </a:solidFill>
                <a:latin typeface="Segoe UI"/>
              </a:defRPr>
            </a:pPr>
            <a:r>
              <a:t>PAGES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691640"/>
            <a:ext cx="26974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17620" y="16459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00"/>
              </a:lnSpc>
              <a:defRPr sz="4400" b="1">
                <a:solidFill>
                  <a:srgbClr val="7C3AED"/>
                </a:solidFill>
                <a:latin typeface="Segoe UI"/>
              </a:defRPr>
            </a:pPr>
            <a:r>
              <a:t>30+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7620" y="2240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900" b="1">
                <a:solidFill>
                  <a:srgbClr val="868E96"/>
                </a:solidFill>
                <a:latin typeface="Segoe UI"/>
              </a:defRPr>
            </a:pPr>
            <a:r>
              <a:t>TESTS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691640"/>
            <a:ext cx="26974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2260" y="16459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00"/>
              </a:lnSpc>
              <a:defRPr sz="4400" b="1">
                <a:solidFill>
                  <a:srgbClr val="DC3545"/>
                </a:solidFill>
                <a:latin typeface="Segoe UI"/>
              </a:defRPr>
            </a:pPr>
            <a:r>
              <a:t>20+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2260" y="2240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900" b="1">
                <a:solidFill>
                  <a:srgbClr val="868E96"/>
                </a:solidFill>
                <a:latin typeface="Segoe UI"/>
              </a:defRPr>
            </a:pPr>
            <a:r>
              <a:t>ISSUES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1691640"/>
            <a:ext cx="26974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86900" y="16459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00"/>
              </a:lnSpc>
              <a:defRPr sz="4400" b="1">
                <a:solidFill>
                  <a:srgbClr val="FD7E14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6900" y="2240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900" b="1">
                <a:solidFill>
                  <a:srgbClr val="868E96"/>
                </a:solidFill>
                <a:latin typeface="Segoe UI"/>
              </a:defRPr>
            </a:pPr>
            <a:r>
              <a:t>CATEGORIES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697480"/>
            <a:ext cx="11338560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788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600" b="1">
                <a:solidFill>
                  <a:srgbClr val="212529"/>
                </a:solidFill>
                <a:latin typeface="Segoe UI"/>
              </a:defRPr>
            </a:pPr>
            <a:r>
              <a:t>Scan Findings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154680"/>
            <a:ext cx="640080" cy="237744"/>
          </a:xfrm>
          <a:prstGeom prst="roundRect">
            <a:avLst>
              <a:gd name="adj" fmla="val 40000"/>
            </a:avLst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1638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00"/>
              </a:lnSpc>
              <a:defRPr sz="700" b="1">
                <a:solidFill>
                  <a:srgbClr val="FFFFFF"/>
                </a:solidFill>
                <a:latin typeface="Segoe UI"/>
              </a:defRPr>
            </a:pPr>
            <a:r>
              <a:t>CRITICAL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163824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212529"/>
                </a:solidFill>
                <a:latin typeface="Segoe UI"/>
              </a:defRPr>
            </a:pPr>
            <a:r>
              <a:t>SQL Injection on search -- ' OR 1=1 --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154680"/>
            <a:ext cx="640080" cy="237744"/>
          </a:xfrm>
          <a:prstGeom prst="roundRect">
            <a:avLst>
              <a:gd name="adj" fmla="val 40000"/>
            </a:avLst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638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00"/>
              </a:lnSpc>
              <a:defRPr sz="700" b="1">
                <a:solidFill>
                  <a:srgbClr val="FFFFFF"/>
                </a:solidFill>
                <a:latin typeface="Segoe UI"/>
              </a:defRPr>
            </a:pPr>
            <a:r>
              <a:t>CRITICAL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3163824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212529"/>
                </a:solidFill>
                <a:latin typeface="Segoe UI"/>
              </a:defRPr>
            </a:pPr>
            <a:r>
              <a:t>Auth bypass on /admin -- no auth required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3575304"/>
            <a:ext cx="640080" cy="237744"/>
          </a:xfrm>
          <a:prstGeom prst="roundRect">
            <a:avLst>
              <a:gd name="adj" fmla="val 40000"/>
            </a:avLst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58444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00"/>
              </a:lnSpc>
              <a:defRPr sz="700" b="1">
                <a:solidFill>
                  <a:srgbClr val="FFFFFF"/>
                </a:solidFill>
                <a:latin typeface="Segoe UI"/>
              </a:defRPr>
            </a:pPr>
            <a:r>
              <a:t>CRITICAL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3584448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212529"/>
                </a:solidFill>
                <a:latin typeface="Segoe UI"/>
              </a:defRPr>
            </a:pPr>
            <a:r>
              <a:t>Path traversal -- ../../package.json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3575304"/>
            <a:ext cx="640080" cy="237744"/>
          </a:xfrm>
          <a:prstGeom prst="roundRect">
            <a:avLst>
              <a:gd name="adj" fmla="val 40000"/>
            </a:avLst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58444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00"/>
              </a:lnSpc>
              <a:defRPr sz="700" b="1">
                <a:solidFill>
                  <a:srgbClr val="FFFFFF"/>
                </a:solidFill>
                <a:latin typeface="Segoe UI"/>
              </a:defRPr>
            </a:pPr>
            <a:r>
              <a:t>CRITICAL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3584448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212529"/>
                </a:solidFill>
                <a:latin typeface="Segoe UI"/>
              </a:defRPr>
            </a:pPr>
            <a:r>
              <a:t>SSRF via /api/preview -- internal URL fetch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3995928"/>
            <a:ext cx="640080" cy="237744"/>
          </a:xfrm>
          <a:prstGeom prst="roundRect">
            <a:avLst>
              <a:gd name="adj" fmla="val 40000"/>
            </a:avLst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00507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00"/>
              </a:lnSpc>
              <a:defRPr sz="700" b="1">
                <a:solidFill>
                  <a:srgbClr val="FFFFFF"/>
                </a:solidFill>
                <a:latin typeface="Segoe UI"/>
              </a:defRPr>
            </a:pPr>
            <a:r>
              <a:t>CRITICAL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4005072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212529"/>
                </a:solidFill>
                <a:latin typeface="Segoe UI"/>
              </a:defRPr>
            </a:pPr>
            <a:r>
              <a:t>SQL Injection on API -- UNION SELECT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63640" y="3995928"/>
            <a:ext cx="420623" cy="237744"/>
          </a:xfrm>
          <a:prstGeom prst="roundRect">
            <a:avLst>
              <a:gd name="adj" fmla="val 40000"/>
            </a:avLst>
          </a:prstGeom>
          <a:solidFill>
            <a:srgbClr val="FD7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005072"/>
            <a:ext cx="42062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00"/>
              </a:lnSpc>
              <a:defRPr sz="700" b="1">
                <a:solidFill>
                  <a:srgbClr val="FFFFFF"/>
                </a:solidFill>
                <a:latin typeface="Segoe UI"/>
              </a:defRPr>
            </a:pPr>
            <a:r>
              <a:t>HIGH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75703" y="4005072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212529"/>
                </a:solidFill>
                <a:latin typeface="Segoe UI"/>
              </a:defRPr>
            </a:pPr>
            <a:r>
              <a:t>IDOR -- /api/users exposes passwords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4416552"/>
            <a:ext cx="420623" cy="237744"/>
          </a:xfrm>
          <a:prstGeom prst="roundRect">
            <a:avLst>
              <a:gd name="adj" fmla="val 40000"/>
            </a:avLst>
          </a:prstGeom>
          <a:solidFill>
            <a:srgbClr val="FD7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4425696"/>
            <a:ext cx="42062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00"/>
              </a:lnSpc>
              <a:defRPr sz="700" b="1">
                <a:solidFill>
                  <a:srgbClr val="FFFFFF"/>
                </a:solidFill>
                <a:latin typeface="Segoe UI"/>
              </a:defRPr>
            </a:pPr>
            <a:r>
              <a:t>HIGH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52143" y="4425696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212529"/>
                </a:solidFill>
                <a:latin typeface="Segoe UI"/>
              </a:defRPr>
            </a:pPr>
            <a:r>
              <a:t>Reflected XSS on search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63640" y="4416552"/>
            <a:ext cx="420623" cy="237744"/>
          </a:xfrm>
          <a:prstGeom prst="roundRect">
            <a:avLst>
              <a:gd name="adj" fmla="val 40000"/>
            </a:avLst>
          </a:prstGeom>
          <a:solidFill>
            <a:srgbClr val="FD7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425696"/>
            <a:ext cx="42062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00"/>
              </a:lnSpc>
              <a:defRPr sz="700" b="1">
                <a:solidFill>
                  <a:srgbClr val="FFFFFF"/>
                </a:solidFill>
                <a:latin typeface="Segoe UI"/>
              </a:defRPr>
            </a:pPr>
            <a:r>
              <a:t>HIGH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75703" y="4425696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212529"/>
                </a:solidFill>
                <a:latin typeface="Segoe UI"/>
              </a:defRPr>
            </a:pPr>
            <a:r>
              <a:t>Wildcard CORS -- Allow-Origin: *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" y="4837176"/>
            <a:ext cx="420623" cy="237744"/>
          </a:xfrm>
          <a:prstGeom prst="roundRect">
            <a:avLst>
              <a:gd name="adj" fmla="val 40000"/>
            </a:avLst>
          </a:prstGeom>
          <a:solidFill>
            <a:srgbClr val="FD7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4846320"/>
            <a:ext cx="42062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00"/>
              </a:lnSpc>
              <a:defRPr sz="700" b="1">
                <a:solidFill>
                  <a:srgbClr val="FFFFFF"/>
                </a:solidFill>
                <a:latin typeface="Segoe UI"/>
              </a:defRPr>
            </a:pPr>
            <a:r>
              <a:t>HIGH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52143" y="4846320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212529"/>
                </a:solidFill>
                <a:latin typeface="Segoe UI"/>
              </a:defRPr>
            </a:pPr>
            <a:r>
              <a:t>Info leak -- /api/debug exposes env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63640" y="4837176"/>
            <a:ext cx="530352" cy="237744"/>
          </a:xfrm>
          <a:prstGeom prst="roundRect">
            <a:avLst>
              <a:gd name="adj" fmla="val 40000"/>
            </a:avLst>
          </a:prstGeom>
          <a:solidFill>
            <a:srgbClr val="FAB0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63640" y="4846320"/>
            <a:ext cx="530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00"/>
              </a:lnSpc>
              <a:defRPr sz="700" b="1">
                <a:solidFill>
                  <a:srgbClr val="000000"/>
                </a:solidFill>
                <a:latin typeface="Segoe UI"/>
              </a:defRPr>
            </a:pPr>
            <a:r>
              <a:t>MEDIUM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85432" y="4846320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212529"/>
                </a:solidFill>
                <a:latin typeface="Segoe UI"/>
              </a:defRPr>
            </a:pPr>
            <a:r>
              <a:t>Open redirect via /redirect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0080" y="5257800"/>
            <a:ext cx="530352" cy="237744"/>
          </a:xfrm>
          <a:prstGeom prst="roundRect">
            <a:avLst>
              <a:gd name="adj" fmla="val 40000"/>
            </a:avLst>
          </a:prstGeom>
          <a:solidFill>
            <a:srgbClr val="FAB0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5266944"/>
            <a:ext cx="530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00"/>
              </a:lnSpc>
              <a:defRPr sz="700" b="1">
                <a:solidFill>
                  <a:srgbClr val="000000"/>
                </a:solidFill>
                <a:latin typeface="Segoe UI"/>
              </a:defRPr>
            </a:pPr>
            <a:r>
              <a:t>MEDIUM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61872" y="5266944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212529"/>
                </a:solidFill>
                <a:latin typeface="Segoe UI"/>
              </a:defRPr>
            </a:pPr>
            <a:r>
              <a:t>Sensitive data in localStorage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63640" y="5257800"/>
            <a:ext cx="310896" cy="237744"/>
          </a:xfrm>
          <a:prstGeom prst="roundRect">
            <a:avLst>
              <a:gd name="adj" fmla="val 40000"/>
            </a:avLst>
          </a:prstGeom>
          <a:solidFill>
            <a:srgbClr val="228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63640" y="5266944"/>
            <a:ext cx="3108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00"/>
              </a:lnSpc>
              <a:defRPr sz="700" b="1">
                <a:solidFill>
                  <a:srgbClr val="FFFFFF"/>
                </a:solidFill>
                <a:latin typeface="Segoe UI"/>
              </a:defRPr>
            </a:pPr>
            <a:r>
              <a:t>QA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65976" y="5266944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212529"/>
                </a:solidFill>
                <a:latin typeface="Segoe UI"/>
              </a:defRPr>
            </a:pPr>
            <a:r>
              <a:t>Search returns correct results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5678424"/>
            <a:ext cx="420623" cy="237744"/>
          </a:xfrm>
          <a:prstGeom prst="roundRect">
            <a:avLst>
              <a:gd name="adj" fmla="val 40000"/>
            </a:avLst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" y="5687568"/>
            <a:ext cx="42062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00"/>
              </a:lnSpc>
              <a:defRPr sz="700" b="1">
                <a:solidFill>
                  <a:srgbClr val="FFFFFF"/>
                </a:solidFill>
                <a:latin typeface="Segoe UI"/>
              </a:defRPr>
            </a:pPr>
            <a:r>
              <a:t>A11Y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52143" y="5687568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212529"/>
                </a:solidFill>
                <a:latin typeface="Segoe UI"/>
              </a:defRPr>
            </a:pPr>
            <a:r>
              <a:t>Images missing alt text (WCAG)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263640" y="5678424"/>
            <a:ext cx="310896" cy="237744"/>
          </a:xfrm>
          <a:prstGeom prst="roundRect">
            <a:avLst>
              <a:gd name="adj" fmla="val 40000"/>
            </a:avLst>
          </a:prstGeom>
          <a:solidFill>
            <a:srgbClr val="228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63640" y="5687568"/>
            <a:ext cx="3108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00"/>
              </a:lnSpc>
              <a:defRPr sz="700" b="1">
                <a:solidFill>
                  <a:srgbClr val="FFFFFF"/>
                </a:solidFill>
                <a:latin typeface="Segoe UI"/>
              </a:defRPr>
            </a:pPr>
            <a:r>
              <a:t>UX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65976" y="5687568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212529"/>
                </a:solidFill>
                <a:latin typeface="Segoe UI"/>
              </a:defRPr>
            </a:pPr>
            <a:r>
              <a:t>Broken images (404) on product page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12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1">
                <a:solidFill>
                  <a:srgbClr val="868E96"/>
                </a:solidFill>
                <a:latin typeface="Segoe UI"/>
              </a:defRPr>
            </a:pPr>
            <a:r>
              <a:t>SENTINEL v1.0.0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defRPr sz="900" b="0">
                <a:solidFill>
                  <a:srgbClr val="868E96"/>
                </a:solidFill>
                <a:latin typeface="Segoe UI"/>
              </a:defRPr>
            </a:pPr>
            <a:r>
              <a:t>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300" b="1">
                <a:solidFill>
                  <a:srgbClr val="DC3545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00"/>
              </a:lnSpc>
              <a:defRPr sz="3400" b="1">
                <a:solidFill>
                  <a:srgbClr val="212529"/>
                </a:solidFill>
                <a:latin typeface="Segoe UI"/>
              </a:defRPr>
            </a:pPr>
            <a:r>
              <a:t>SENTINEL vs. Traditional DAST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84632"/>
            <a:ext cx="548640" cy="38100"/>
          </a:xfrm>
          <a:prstGeom prst="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24712"/>
            <a:ext cx="10698480" cy="310896"/>
          </a:xfrm>
          <a:prstGeom prst="rect">
            <a:avLst/>
          </a:prstGeom>
          <a:solidFill>
            <a:srgbClr val="212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143000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1">
                <a:solidFill>
                  <a:srgbClr val="FFFFFF"/>
                </a:solidFill>
                <a:latin typeface="Segoe UI"/>
              </a:defRPr>
            </a:pPr>
            <a:r>
              <a:t>CAPABILITY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4368" y="1143000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1">
                <a:solidFill>
                  <a:srgbClr val="FFFFFF"/>
                </a:solidFill>
                <a:latin typeface="Segoe UI"/>
              </a:defRPr>
            </a:pPr>
            <a:r>
              <a:t>SENTINEL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9008" y="1143000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1">
                <a:solidFill>
                  <a:srgbClr val="FFFFFF"/>
                </a:solidFill>
                <a:latin typeface="Segoe UI"/>
              </a:defRPr>
            </a:pPr>
            <a:r>
              <a:t>RAPID7 / APPSCAN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3648" y="1143000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1">
                <a:solidFill>
                  <a:srgbClr val="FFFFFF"/>
                </a:solidFill>
                <a:latin typeface="Segoe UI"/>
              </a:defRPr>
            </a:pPr>
            <a:r>
              <a:t>BURP / ZAP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453896"/>
            <a:ext cx="1069848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1472184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212529"/>
                </a:solidFill>
                <a:latin typeface="Segoe UI"/>
              </a:defRPr>
            </a:pPr>
            <a:r>
              <a:t>Attack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4368" y="1472184"/>
            <a:ext cx="2724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1">
                <a:solidFill>
                  <a:srgbClr val="DC3545"/>
                </a:solidFill>
                <a:latin typeface="Segoe UI"/>
              </a:defRPr>
            </a:pPr>
            <a:r>
              <a:t>Baseline + AI per-app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79008" y="1472184"/>
            <a:ext cx="2724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495057"/>
                </a:solidFill>
                <a:latin typeface="Segoe UI"/>
              </a:defRPr>
            </a:pPr>
            <a:r>
              <a:t>Pre-built signature 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13648" y="1472184"/>
            <a:ext cx="2633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495057"/>
                </a:solidFill>
                <a:latin typeface="Segoe UI"/>
              </a:defRPr>
            </a:pPr>
            <a:r>
              <a:t>Pre-built signature DB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764792"/>
            <a:ext cx="10698480" cy="310896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1783080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212529"/>
                </a:solidFill>
                <a:latin typeface="Segoe UI"/>
              </a:defRPr>
            </a:pPr>
            <a:r>
              <a:t>Reads product docs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44368" y="1783080"/>
            <a:ext cx="2724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1">
                <a:solidFill>
                  <a:srgbClr val="DC3545"/>
                </a:solidFill>
                <a:latin typeface="Segoe UI"/>
              </a:defRPr>
            </a:pPr>
            <a:r>
              <a:t>Yes -- docPath param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79008" y="1783080"/>
            <a:ext cx="2724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868E96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13648" y="1783080"/>
            <a:ext cx="2633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868E96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075688"/>
            <a:ext cx="1069848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2093976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212529"/>
                </a:solidFill>
                <a:latin typeface="Segoe UI"/>
              </a:defRPr>
            </a:pPr>
            <a:r>
              <a:t>Business logic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44368" y="2093976"/>
            <a:ext cx="2724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1">
                <a:solidFill>
                  <a:srgbClr val="DC3545"/>
                </a:solidFill>
                <a:latin typeface="Segoe UI"/>
              </a:defRPr>
            </a:pPr>
            <a:r>
              <a:t>Yes -- AI-driven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79008" y="2093976"/>
            <a:ext cx="2724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868E96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13648" y="2093976"/>
            <a:ext cx="2633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868E96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386584"/>
            <a:ext cx="10698480" cy="310896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2404872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212529"/>
                </a:solidFill>
                <a:latin typeface="Segoe UI"/>
              </a:defRPr>
            </a:pPr>
            <a:r>
              <a:t>Learning across scans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44368" y="2404872"/>
            <a:ext cx="2724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1">
                <a:solidFill>
                  <a:srgbClr val="DC3545"/>
                </a:solidFill>
                <a:latin typeface="Segoe UI"/>
              </a:defRPr>
            </a:pPr>
            <a:r>
              <a:t>Yes -- knowledge persists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79008" y="2404872"/>
            <a:ext cx="2724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868E96"/>
                </a:solidFill>
                <a:latin typeface="Segoe UI"/>
              </a:defRPr>
            </a:pPr>
            <a:r>
              <a:t>No -- each scan independent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13648" y="2404872"/>
            <a:ext cx="2633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868E96"/>
                </a:solidFill>
                <a:latin typeface="Segoe UI"/>
              </a:defRPr>
            </a:pPr>
            <a:r>
              <a:t>No -- session only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2697480"/>
            <a:ext cx="1069848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2715768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212529"/>
                </a:solidFill>
                <a:latin typeface="Segoe UI"/>
              </a:defRPr>
            </a:pPr>
            <a:r>
              <a:t>IDP / OAuth / SSO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44368" y="2715768"/>
            <a:ext cx="2724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1">
                <a:solidFill>
                  <a:srgbClr val="DC3545"/>
                </a:solidFill>
                <a:latin typeface="Segoe UI"/>
              </a:defRPr>
            </a:pPr>
            <a:r>
              <a:t>Yes -- native (idp-login)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79008" y="2715768"/>
            <a:ext cx="2724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495057"/>
                </a:solidFill>
                <a:latin typeface="Segoe UI"/>
              </a:defRPr>
            </a:pPr>
            <a:r>
              <a:t>Manual macro recording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13648" y="2715768"/>
            <a:ext cx="2633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495057"/>
                </a:solidFill>
                <a:latin typeface="Segoe UI"/>
              </a:defRPr>
            </a:pPr>
            <a:r>
              <a:t>Manual macro recording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008376"/>
            <a:ext cx="10698480" cy="310896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3026664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212529"/>
                </a:solidFill>
                <a:latin typeface="Segoe UI"/>
              </a:defRPr>
            </a:pPr>
            <a:r>
              <a:t>Setup time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44368" y="3026664"/>
            <a:ext cx="2724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1">
                <a:solidFill>
                  <a:srgbClr val="DC3545"/>
                </a:solidFill>
                <a:latin typeface="Segoe UI"/>
              </a:defRPr>
            </a:pPr>
            <a:r>
              <a:t>Minutes (one prompt)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79008" y="3026664"/>
            <a:ext cx="2724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495057"/>
                </a:solidFill>
                <a:latin typeface="Segoe UI"/>
              </a:defRPr>
            </a:pPr>
            <a:r>
              <a:t>Hours (policies, macros)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13648" y="3026664"/>
            <a:ext cx="2633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495057"/>
                </a:solidFill>
                <a:latin typeface="Segoe UI"/>
              </a:defRPr>
            </a:pPr>
            <a:r>
              <a:t>Moderate (proxy)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3319272"/>
            <a:ext cx="1069848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" y="3337560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212529"/>
                </a:solidFill>
                <a:latin typeface="Segoe UI"/>
              </a:defRPr>
            </a:pPr>
            <a:r>
              <a:t>Functional + QA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44368" y="3337560"/>
            <a:ext cx="2724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1">
                <a:solidFill>
                  <a:srgbClr val="DC3545"/>
                </a:solidFill>
                <a:latin typeface="Segoe UI"/>
              </a:defRPr>
            </a:pPr>
            <a:r>
              <a:t>Yes -- built-in (same run)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79008" y="3337560"/>
            <a:ext cx="2724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868E96"/>
                </a:solidFill>
                <a:latin typeface="Segoe UI"/>
              </a:defRPr>
            </a:pPr>
            <a:r>
              <a:t>No -- security only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13648" y="3337560"/>
            <a:ext cx="2633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868E96"/>
                </a:solidFill>
                <a:latin typeface="Segoe UI"/>
              </a:defRPr>
            </a:pPr>
            <a:r>
              <a:t>No -- security only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3630168"/>
            <a:ext cx="10698480" cy="310896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" y="3648456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212529"/>
                </a:solidFill>
                <a:latin typeface="Segoe UI"/>
              </a:defRPr>
            </a:pPr>
            <a:r>
              <a:t>Accessibility + UX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44368" y="3648456"/>
            <a:ext cx="2724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1">
                <a:solidFill>
                  <a:srgbClr val="DC3545"/>
                </a:solidFill>
                <a:latin typeface="Segoe UI"/>
              </a:defRPr>
            </a:pPr>
            <a:r>
              <a:t>Yes -- built-in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79008" y="3648456"/>
            <a:ext cx="2724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868E96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13648" y="3648456"/>
            <a:ext cx="2633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868E96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3941064"/>
            <a:ext cx="1069848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" y="3959352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212529"/>
                </a:solidFill>
                <a:latin typeface="Segoe UI"/>
              </a:defRPr>
            </a:pPr>
            <a:r>
              <a:t>Payloads per scan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44368" y="3959352"/>
            <a:ext cx="2724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1">
                <a:solidFill>
                  <a:srgbClr val="DC3545"/>
                </a:solidFill>
                <a:latin typeface="Segoe UI"/>
              </a:defRPr>
            </a:pPr>
            <a:r>
              <a:t>30-60 (targeted)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79008" y="3959352"/>
            <a:ext cx="2724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495057"/>
                </a:solidFill>
                <a:latin typeface="Segoe UI"/>
              </a:defRPr>
            </a:pPr>
            <a:r>
              <a:t>10,000+ (brute-force)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13648" y="3959352"/>
            <a:ext cx="2633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495057"/>
                </a:solidFill>
                <a:latin typeface="Segoe UI"/>
              </a:defRPr>
            </a:pPr>
            <a:r>
              <a:t>Thousands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4251960"/>
            <a:ext cx="10698480" cy="310896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8368" y="4270248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212529"/>
                </a:solidFill>
                <a:latin typeface="Segoe UI"/>
              </a:defRPr>
            </a:pPr>
            <a:r>
              <a:t>Scan duration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944368" y="4270248"/>
            <a:ext cx="2724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1">
                <a:solidFill>
                  <a:srgbClr val="DC3545"/>
                </a:solidFill>
                <a:latin typeface="Segoe UI"/>
              </a:defRPr>
            </a:pPr>
            <a:r>
              <a:t>~5 minutes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779008" y="4270248"/>
            <a:ext cx="2724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495057"/>
                </a:solidFill>
                <a:latin typeface="Segoe UI"/>
              </a:defRPr>
            </a:pPr>
            <a:r>
              <a:t>2-8 hours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13648" y="4270248"/>
            <a:ext cx="2633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495057"/>
                </a:solidFill>
                <a:latin typeface="Segoe UI"/>
              </a:defRPr>
            </a:pPr>
            <a:r>
              <a:t>30 min - hours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" y="4562856"/>
            <a:ext cx="1069848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8368" y="4581144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212529"/>
                </a:solidFill>
                <a:latin typeface="Segoe UI"/>
              </a:defRPr>
            </a:pPr>
            <a:r>
              <a:t>Screenshot evidence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44368" y="4581144"/>
            <a:ext cx="2724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1">
                <a:solidFill>
                  <a:srgbClr val="DC3545"/>
                </a:solidFill>
                <a:latin typeface="Segoe UI"/>
              </a:defRPr>
            </a:pPr>
            <a:r>
              <a:t>Yes -- auto per finding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79008" y="4581144"/>
            <a:ext cx="2724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868E96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13648" y="4581144"/>
            <a:ext cx="2633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495057"/>
                </a:solidFill>
                <a:latin typeface="Segoe UI"/>
              </a:defRPr>
            </a:pPr>
            <a:r>
              <a:t>Manual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8640" y="4873752"/>
            <a:ext cx="10698480" cy="310896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8368" y="4892040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212529"/>
                </a:solidFill>
                <a:latin typeface="Segoe UI"/>
              </a:defRPr>
            </a:pPr>
            <a:r>
              <a:t>Cost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944368" y="4892040"/>
            <a:ext cx="2724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1">
                <a:solidFill>
                  <a:srgbClr val="DC3545"/>
                </a:solidFill>
                <a:latin typeface="Segoe UI"/>
              </a:defRPr>
            </a:pPr>
            <a:r>
              <a:t>Free (MIT) + LLM API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779008" y="4892040"/>
            <a:ext cx="2724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495057"/>
                </a:solidFill>
                <a:latin typeface="Segoe UI"/>
              </a:defRPr>
            </a:pPr>
            <a:r>
              <a:t>$10K-$100K+/yr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13648" y="4892040"/>
            <a:ext cx="2633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495057"/>
                </a:solidFill>
                <a:latin typeface="Segoe UI"/>
              </a:defRPr>
            </a:pPr>
            <a:r>
              <a:t>Free / $449+/yr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0080" y="5257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600" b="1">
                <a:solidFill>
                  <a:srgbClr val="212529"/>
                </a:solidFill>
                <a:latin typeface="Segoe UI"/>
              </a:defRPr>
            </a:pPr>
            <a:r>
              <a:t>Key Advantages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65760" y="5577840"/>
            <a:ext cx="370332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48640" y="5605272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1">
                <a:solidFill>
                  <a:srgbClr val="7C3AED"/>
                </a:solidFill>
                <a:latin typeface="Segoe UI"/>
              </a:defRPr>
            </a:pPr>
            <a:r>
              <a:t>Baseline + AI, Not Blind Signatures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8640" y="585216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495057"/>
                </a:solidFill>
                <a:latin typeface="Segoe UI"/>
              </a:defRPr>
            </a:pPr>
            <a:r>
              <a:t>Deterministic recon-based attacks + LLM-designed app-specific tests.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206240" y="5577840"/>
            <a:ext cx="370332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FD7E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389120" y="5605272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1">
                <a:solidFill>
                  <a:srgbClr val="FD7E14"/>
                </a:solidFill>
                <a:latin typeface="Segoe UI"/>
              </a:defRPr>
            </a:pPr>
            <a:r>
              <a:t>Gets Smarter Over Time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389120" y="585216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495057"/>
                </a:solidFill>
                <a:latin typeface="Segoe UI"/>
              </a:defRPr>
            </a:pPr>
            <a:r>
              <a:t>Knowledge persists. Each scan builds on the last.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046720" y="5577840"/>
            <a:ext cx="370332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228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229600" y="5605272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1">
                <a:solidFill>
                  <a:srgbClr val="228BE6"/>
                </a:solidFill>
                <a:latin typeface="Segoe UI"/>
              </a:defRPr>
            </a:pPr>
            <a:r>
              <a:t>Replaces Four Tools With One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229600" y="585216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495057"/>
                </a:solidFill>
                <a:latin typeface="Segoe UI"/>
              </a:defRPr>
            </a:pPr>
            <a:r>
              <a:t>Security, QA, input validation, accessibility, UX in one run.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802575" y="0"/>
            <a:ext cx="4389120" cy="6858000"/>
          </a:xfrm>
          <a:prstGeom prst="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59775" y="182880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00"/>
              </a:lnSpc>
              <a:defRPr sz="3000" b="1">
                <a:solidFill>
                  <a:srgbClr val="FFFFFF"/>
                </a:solidFill>
                <a:latin typeface="Segoe UI"/>
              </a:defRPr>
            </a:pPr>
            <a:r>
              <a:t>Open your</a:t>
            </a:r>
            <a:br/>
            <a:r>
              <a:t>browser.</a:t>
            </a:r>
            <a:br/>
            <a:r>
              <a:t>Launch a scan.</a:t>
            </a:r>
            <a:br/>
            <a:r>
              <a:t>Get a report.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59775" y="3931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Segoe UI"/>
              </a:defRPr>
            </a:pPr>
            <a:r>
              <a:t>It's that simple.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00"/>
              </a:lnSpc>
              <a:defRPr sz="4000" b="1">
                <a:solidFill>
                  <a:srgbClr val="FFFFFF"/>
                </a:solidFill>
                <a:latin typeface="Segoe UI"/>
              </a:defRPr>
            </a:pPr>
            <a:r>
              <a:t>SENTINEL v1.0.0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57400"/>
            <a:ext cx="2286000" cy="38100"/>
          </a:xfrm>
          <a:prstGeom prst="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500" b="0">
                <a:solidFill>
                  <a:srgbClr val="868E96"/>
                </a:solidFill>
                <a:latin typeface="Segoe UI"/>
              </a:defRPr>
            </a:pPr>
            <a:r>
              <a:t>AI-Powered Security &amp; QA Testing.</a:t>
            </a:r>
            <a:br/>
            <a:r>
              <a:t>Run it from the web. Give it a URL, your docs, and credentials.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6400800" cy="457200"/>
          </a:xfrm>
          <a:prstGeom prst="roundRect">
            <a:avLst>
              <a:gd name="adj" fmla="val 15000"/>
            </a:avLst>
          </a:prstGeom>
          <a:solidFill>
            <a:srgbClr val="34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300" b="0">
                <a:solidFill>
                  <a:srgbClr val="40C057"/>
                </a:solidFill>
                <a:latin typeface="Consolas"/>
              </a:defRPr>
            </a:pPr>
            <a:r>
              <a:t>$ cd web &amp;&amp; npx next dev  &gt;  http://localhost:3000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868E96"/>
                </a:solidFill>
                <a:latin typeface="Segoe UI"/>
              </a:defRPr>
            </a:pPr>
            <a:r>
              <a:t>&gt;  Open Source (MIT)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4023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868E96"/>
                </a:solidFill>
                <a:latin typeface="Segoe UI"/>
              </a:defRPr>
            </a:pPr>
            <a:r>
              <a:t>&gt;  16 Attack Categories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4023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868E96"/>
                </a:solidFill>
                <a:latin typeface="Segoe UI"/>
              </a:defRPr>
            </a:pPr>
            <a:r>
              <a:t>&gt;  Web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708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868E96"/>
                </a:solidFill>
                <a:latin typeface="Segoe UI"/>
              </a:defRPr>
            </a:pPr>
            <a:r>
              <a:t>&gt;  Real Browser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3708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868E96"/>
                </a:solidFill>
                <a:latin typeface="Segoe UI"/>
              </a:defRPr>
            </a:pPr>
            <a:r>
              <a:t>&gt;  Baseline + AI Attacks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43708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868E96"/>
                </a:solidFill>
                <a:latin typeface="Segoe UI"/>
              </a:defRPr>
            </a:pPr>
            <a:r>
              <a:t>&gt;  Per-App Memory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1830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868E96"/>
                </a:solidFill>
                <a:latin typeface="Segoe UI"/>
              </a:defRPr>
            </a:pPr>
            <a:r>
              <a:t>&gt;  Accessibility &amp; UX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71830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868E96"/>
                </a:solidFill>
                <a:latin typeface="Segoe UI"/>
              </a:defRPr>
            </a:pPr>
            <a:r>
              <a:t>&gt;  API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71830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868E96"/>
                </a:solidFill>
                <a:latin typeface="Segoe UI"/>
              </a:defRPr>
            </a:pPr>
            <a:r>
              <a:t>&gt;  SARIF / CI/CD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4864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495057"/>
                </a:solidFill>
                <a:latin typeface="Segoe UI"/>
              </a:defRPr>
            </a:pPr>
            <a:r>
              <a:t>Also available via MCP on Cursor / VS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